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3" r:id="rId7"/>
    <p:sldId id="264" r:id="rId8"/>
    <p:sldId id="265" r:id="rId9"/>
    <p:sldId id="266" r:id="rId10"/>
    <p:sldId id="267" r:id="rId11"/>
    <p:sldId id="268" r:id="rId12"/>
    <p:sldId id="278" r:id="rId13"/>
    <p:sldId id="279" r:id="rId14"/>
    <p:sldId id="269" r:id="rId15"/>
    <p:sldId id="281" r:id="rId16"/>
    <p:sldId id="282" r:id="rId17"/>
    <p:sldId id="284" r:id="rId18"/>
    <p:sldId id="283" r:id="rId19"/>
    <p:sldId id="285" r:id="rId20"/>
    <p:sldId id="280" r:id="rId21"/>
    <p:sldId id="286" r:id="rId22"/>
    <p:sldId id="287" r:id="rId23"/>
    <p:sldId id="288" r:id="rId24"/>
    <p:sldId id="270" r:id="rId25"/>
    <p:sldId id="271" r:id="rId26"/>
    <p:sldId id="289" r:id="rId27"/>
    <p:sldId id="272" r:id="rId28"/>
    <p:sldId id="274" r:id="rId29"/>
    <p:sldId id="290" r:id="rId30"/>
    <p:sldId id="291" r:id="rId31"/>
    <p:sldId id="292" r:id="rId32"/>
    <p:sldId id="293" r:id="rId33"/>
    <p:sldId id="294" r:id="rId34"/>
    <p:sldId id="297" r:id="rId35"/>
    <p:sldId id="296" r:id="rId36"/>
    <p:sldId id="298" r:id="rId37"/>
    <p:sldId id="299" r:id="rId38"/>
    <p:sldId id="300" r:id="rId39"/>
    <p:sldId id="301" r:id="rId40"/>
    <p:sldId id="302" r:id="rId41"/>
    <p:sldId id="303" r:id="rId42"/>
    <p:sldId id="304" r:id="rId43"/>
    <p:sldId id="275" r:id="rId44"/>
    <p:sldId id="276" r:id="rId45"/>
    <p:sldId id="305" r:id="rId46"/>
    <p:sldId id="277" r:id="rId47"/>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4714" autoAdjust="0"/>
  </p:normalViewPr>
  <p:slideViewPr>
    <p:cSldViewPr>
      <p:cViewPr varScale="1">
        <p:scale>
          <a:sx n="88" d="100"/>
          <a:sy n="88" d="100"/>
        </p:scale>
        <p:origin x="-146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estilo do título mestre</a:t>
            </a:r>
            <a:endParaRPr lang="pt-B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14/12/2018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Clique para editar o estilo do título mestre</a:t>
            </a:r>
            <a:endParaRPr lang="pt-BR" dirty="0"/>
          </a:p>
        </p:txBody>
      </p:sp>
      <p:sp>
        <p:nvSpPr>
          <p:cNvPr id="3" name="Espaço Reservado para Conteúdo 2"/>
          <p:cNvSpPr>
            <a:spLocks noGrp="1"/>
          </p:cNvSpPr>
          <p:nvPr>
            <p:ph idx="1"/>
          </p:nvPr>
        </p:nvSpPr>
        <p:spPr/>
        <p:txBody>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14/12/2018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os estilos do texto mestre</a:t>
            </a: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14/12/2018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2E700DB3-DBF0-4086-B675-117E7A9610B8}" type="datetimeFigureOut">
              <a:rPr lang="pt-BR" smtClean="0"/>
              <a:pPr/>
              <a:t>14/12/2018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2E700DB3-DBF0-4086-B675-117E7A9610B8}" type="datetimeFigureOut">
              <a:rPr lang="pt-BR" smtClean="0"/>
              <a:pPr/>
              <a:t>14/12/2018</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2119D8CF-8DEC-4D9F-84EE-ADF04DFF3391}" type="slidenum">
              <a:rPr lang="pt-BR" smtClean="0"/>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Data 2"/>
          <p:cNvSpPr>
            <a:spLocks noGrp="1"/>
          </p:cNvSpPr>
          <p:nvPr>
            <p:ph type="dt" sz="half" idx="10"/>
          </p:nvPr>
        </p:nvSpPr>
        <p:spPr/>
        <p:txBody>
          <a:bodyPr/>
          <a:lstStyle/>
          <a:p>
            <a:fld id="{2E700DB3-DBF0-4086-B675-117E7A9610B8}" type="datetimeFigureOut">
              <a:rPr lang="pt-BR" smtClean="0"/>
              <a:pPr/>
              <a:t>14/12/2018</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2119D8CF-8DEC-4D9F-84EE-ADF04DFF3391}"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E700DB3-DBF0-4086-B675-117E7A9610B8}" type="datetimeFigureOut">
              <a:rPr lang="pt-BR" smtClean="0"/>
              <a:pPr/>
              <a:t>14/12/2018</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2119D8CF-8DEC-4D9F-84EE-ADF04DFF3391}"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estilo do título mestre</a:t>
            </a:r>
            <a:endParaRPr lang="pt-B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2E700DB3-DBF0-4086-B675-117E7A9610B8}" type="datetimeFigureOut">
              <a:rPr lang="pt-BR" smtClean="0"/>
              <a:pPr/>
              <a:t>14/12/2018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estilo do título mestre</a:t>
            </a:r>
            <a:endParaRPr lang="pt-B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2E700DB3-DBF0-4086-B675-117E7A9610B8}" type="datetimeFigureOut">
              <a:rPr lang="pt-BR" smtClean="0"/>
              <a:pPr/>
              <a:t>14/12/2018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14/12/2018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pPr/>
              <a:t>14/12/2018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dirty="0" smtClean="0"/>
              <a:t>Clique para editar o estilo do título mestre</a:t>
            </a:r>
            <a:endParaRPr lang="pt-BR" dirty="0"/>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700DB3-DBF0-4086-B675-117E7A9610B8}" type="datetimeFigureOut">
              <a:rPr lang="pt-BR" smtClean="0"/>
              <a:pPr/>
              <a:t>14/12/2018</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19D8CF-8DEC-4D9F-84EE-ADF04DFF3391}" type="slidenum">
              <a:rPr lang="pt-BR" smtClean="0"/>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smtClean="0"/>
              <a:t>Desenvolvimento de aplicativo para Análise de Risco Radiológico</a:t>
            </a:r>
            <a:endParaRPr lang="pt-BR" dirty="0"/>
          </a:p>
        </p:txBody>
      </p:sp>
      <p:sp>
        <p:nvSpPr>
          <p:cNvPr id="3" name="Subtítulo 2"/>
          <p:cNvSpPr>
            <a:spLocks noGrp="1"/>
          </p:cNvSpPr>
          <p:nvPr>
            <p:ph type="subTitle" idx="1"/>
          </p:nvPr>
        </p:nvSpPr>
        <p:spPr/>
        <p:txBody>
          <a:bodyPr anchor="ctr">
            <a:noAutofit/>
          </a:bodyPr>
          <a:lstStyle/>
          <a:p>
            <a:pPr algn="l"/>
            <a:r>
              <a:rPr lang="pt-BR" sz="2400" b="1" dirty="0" smtClean="0"/>
              <a:t>Aluno: Diogo Ferreira do Nascimento</a:t>
            </a:r>
          </a:p>
          <a:p>
            <a:pPr algn="l"/>
            <a:r>
              <a:rPr lang="pt-BR" sz="2400" b="1" dirty="0" smtClean="0"/>
              <a:t>Matrícula: 1113331040</a:t>
            </a:r>
          </a:p>
          <a:p>
            <a:pPr algn="l"/>
            <a:r>
              <a:rPr lang="pt-BR" sz="2400" b="1" dirty="0" smtClean="0"/>
              <a:t>Orientador: Prof. Dr. Maurício </a:t>
            </a:r>
            <a:r>
              <a:rPr lang="pt-BR" sz="2400" b="1" dirty="0" err="1" smtClean="0"/>
              <a:t>Quelhas</a:t>
            </a:r>
            <a:r>
              <a:rPr lang="pt-BR" sz="2400" b="1" dirty="0" smtClean="0"/>
              <a:t> </a:t>
            </a:r>
            <a:r>
              <a:rPr lang="pt-BR" sz="2400" b="1" dirty="0" err="1" smtClean="0"/>
              <a:t>Antolin</a:t>
            </a:r>
            <a:endParaRPr lang="pt-BR"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z="4000" dirty="0" smtClean="0"/>
              <a:t>Introdução</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Este trabalho propõe </a:t>
            </a:r>
            <a:r>
              <a:rPr lang="en-US" sz="2800" dirty="0" smtClean="0"/>
              <a:t>um </a:t>
            </a:r>
            <a:r>
              <a:rPr lang="en-US" sz="2800" dirty="0" err="1" smtClean="0"/>
              <a:t>sistema</a:t>
            </a:r>
            <a:r>
              <a:rPr lang="en-US" sz="2800" dirty="0" smtClean="0"/>
              <a:t> de an</a:t>
            </a:r>
            <a:r>
              <a:rPr lang="pt-BR" sz="2800" dirty="0" err="1" smtClean="0"/>
              <a:t>álise</a:t>
            </a:r>
            <a:r>
              <a:rPr lang="pt-BR" sz="2800" dirty="0" smtClean="0"/>
              <a:t> de risco baseada no documento </a:t>
            </a:r>
            <a:r>
              <a:rPr lang="pt-BR" sz="2800" i="1" dirty="0" err="1" smtClean="0"/>
              <a:t>Biological</a:t>
            </a:r>
            <a:r>
              <a:rPr lang="pt-BR" sz="2800" i="1" dirty="0" smtClean="0"/>
              <a:t> </a:t>
            </a:r>
            <a:r>
              <a:rPr lang="pt-BR" sz="2800" i="1" dirty="0" err="1" smtClean="0"/>
              <a:t>Effects</a:t>
            </a:r>
            <a:r>
              <a:rPr lang="pt-BR" sz="2800" i="1" dirty="0" smtClean="0"/>
              <a:t> </a:t>
            </a:r>
            <a:r>
              <a:rPr lang="pt-BR" sz="2800" i="1" dirty="0" err="1" smtClean="0"/>
              <a:t>of</a:t>
            </a:r>
            <a:r>
              <a:rPr lang="pt-BR" sz="2800" i="1" dirty="0" smtClean="0"/>
              <a:t> </a:t>
            </a:r>
            <a:r>
              <a:rPr lang="pt-BR" sz="2800" i="1" dirty="0" err="1" smtClean="0"/>
              <a:t>Ionizing</a:t>
            </a:r>
            <a:r>
              <a:rPr lang="pt-BR" sz="2800" i="1" dirty="0" smtClean="0"/>
              <a:t> </a:t>
            </a:r>
            <a:r>
              <a:rPr lang="pt-BR" sz="2800" i="1" dirty="0" err="1" smtClean="0"/>
              <a:t>Radiation</a:t>
            </a:r>
            <a:r>
              <a:rPr lang="pt-BR" sz="2800" i="1" dirty="0" smtClean="0"/>
              <a:t> </a:t>
            </a:r>
            <a:r>
              <a:rPr lang="pt-BR" sz="2800" i="1" dirty="0" err="1" smtClean="0"/>
              <a:t>committee</a:t>
            </a:r>
            <a:r>
              <a:rPr lang="pt-BR" sz="2800" i="1" dirty="0" smtClean="0"/>
              <a:t> VII</a:t>
            </a:r>
            <a:r>
              <a:rPr lang="pt-BR" sz="2800" dirty="0" smtClean="0"/>
              <a:t> (BEIR VII), para identificar a incidência de leucemia e determinar efeitos estocásticos em indivíduos expostos a baixas doses de radiação ionizante.</a:t>
            </a:r>
            <a:endParaRPr lang="pt-BR"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z="4000" dirty="0" smtClean="0"/>
              <a:t>Introdução</a:t>
            </a:r>
            <a:endParaRPr lang="pt-BR" sz="4000" dirty="0"/>
          </a:p>
        </p:txBody>
      </p:sp>
      <p:sp>
        <p:nvSpPr>
          <p:cNvPr id="3" name="Espaço Reservado para Conteúdo 2"/>
          <p:cNvSpPr>
            <a:spLocks noGrp="1"/>
          </p:cNvSpPr>
          <p:nvPr>
            <p:ph idx="1"/>
          </p:nvPr>
        </p:nvSpPr>
        <p:spPr/>
        <p:txBody>
          <a:bodyPr/>
          <a:lstStyle/>
          <a:p>
            <a:r>
              <a:rPr lang="pt-BR" sz="2800" dirty="0" smtClean="0"/>
              <a:t>O sistema possui a capacidade de organizar dados de levantamentos radiométricos feitos com o aparelho de detecção </a:t>
            </a:r>
            <a:r>
              <a:rPr lang="pt-BR" sz="2800" dirty="0" err="1" smtClean="0"/>
              <a:t>SpiR-ID</a:t>
            </a:r>
            <a:r>
              <a:rPr lang="pt-BR" sz="2800" dirty="0" smtClean="0"/>
              <a:t>®, e aplicar equações do BEIR VII para calcular as estimativas de Excesso de Risco Relativo para o surgimento da leucemia.</a:t>
            </a:r>
          </a:p>
          <a:p>
            <a:r>
              <a:rPr lang="pt-BR" sz="2800" dirty="0" smtClean="0"/>
              <a:t>Uma aplicação </a:t>
            </a:r>
            <a:r>
              <a:rPr lang="pt-BR" sz="2800" i="1" dirty="0" smtClean="0"/>
              <a:t>desktop </a:t>
            </a:r>
            <a:r>
              <a:rPr lang="pt-BR" sz="2800" dirty="0" smtClean="0"/>
              <a:t>faz todo o processamento, exibe o resultado através de gráficos e pode ainda enviar as estimativas para aplicações </a:t>
            </a:r>
            <a:r>
              <a:rPr lang="pt-BR" sz="2800" dirty="0" err="1" smtClean="0"/>
              <a:t>Android</a:t>
            </a:r>
            <a:r>
              <a:rPr lang="pt-BR" sz="2800" dirty="0" smtClean="0"/>
              <a:t>®.</a:t>
            </a:r>
          </a:p>
          <a:p>
            <a:endParaRPr lang="pt-B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Introdução</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O sistema pode dar apoio a pessoas especializadas, que estejam envolvidas direta ou indiretamente na resolução de eventos de natureza radiológica;</a:t>
            </a:r>
          </a:p>
          <a:p>
            <a:r>
              <a:rPr lang="pt-BR" sz="2800" dirty="0" smtClean="0"/>
              <a:t>Permitindo o acesso a resultados e estimativas de indivíduos expostos a radiação, a fim de produzirem soluções e tomarem decisões como resposta aos eventos radiológicos (acidentes ou atentados).</a:t>
            </a:r>
          </a:p>
          <a:p>
            <a:endParaRPr lang="pt-BR" sz="2800" dirty="0" smtClean="0"/>
          </a:p>
          <a:p>
            <a:endParaRPr lang="pt-BR"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normAutofit/>
          </a:bodyPr>
          <a:lstStyle/>
          <a:p>
            <a:r>
              <a:rPr lang="pt-BR" sz="4000" dirty="0" smtClean="0"/>
              <a:t>Fluxo do sistema</a:t>
            </a:r>
            <a:endParaRPr lang="pt-BR" sz="4000" dirty="0"/>
          </a:p>
        </p:txBody>
      </p:sp>
      <p:pic>
        <p:nvPicPr>
          <p:cNvPr id="6" name="Espaço Reservado para Conteúdo 5" descr="cenário proposto.png"/>
          <p:cNvPicPr>
            <a:picLocks noGrp="1" noChangeAspect="1"/>
          </p:cNvPicPr>
          <p:nvPr>
            <p:ph idx="1"/>
          </p:nvPr>
        </p:nvPicPr>
        <p:blipFill>
          <a:blip r:embed="rId2" cstate="print"/>
          <a:stretch>
            <a:fillRect/>
          </a:stretch>
        </p:blipFill>
        <p:spPr>
          <a:xfrm>
            <a:off x="1554691" y="1600200"/>
            <a:ext cx="6034617" cy="4525963"/>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Radiação </a:t>
            </a:r>
            <a:r>
              <a:rPr lang="pt-BR" sz="4000" dirty="0" smtClean="0"/>
              <a:t>ionizante</a:t>
            </a:r>
            <a:endParaRPr lang="pt-BR" sz="4000" dirty="0"/>
          </a:p>
        </p:txBody>
      </p:sp>
      <p:sp>
        <p:nvSpPr>
          <p:cNvPr id="3" name="Espaço Reservado para Conteúdo 2"/>
          <p:cNvSpPr>
            <a:spLocks noGrp="1"/>
          </p:cNvSpPr>
          <p:nvPr>
            <p:ph idx="1"/>
          </p:nvPr>
        </p:nvSpPr>
        <p:spPr/>
        <p:txBody>
          <a:bodyPr>
            <a:normAutofit lnSpcReduction="10000"/>
          </a:bodyPr>
          <a:lstStyle/>
          <a:p>
            <a:r>
              <a:rPr lang="pt-BR" sz="2800" dirty="0" smtClean="0"/>
              <a:t>É a radiação que possui capacidade energética suficiente para arrancar um elétron de um átomo ou de uma molécula, </a:t>
            </a:r>
            <a:r>
              <a:rPr lang="pt-BR" sz="2800" dirty="0" smtClean="0"/>
              <a:t>transformando-o </a:t>
            </a:r>
            <a:r>
              <a:rPr lang="pt-BR" sz="2800" dirty="0" smtClean="0"/>
              <a:t>em um par de íons;</a:t>
            </a:r>
          </a:p>
          <a:p>
            <a:r>
              <a:rPr lang="pt-BR" sz="2800" dirty="0" smtClean="0"/>
              <a:t>Partículas carregadas como elétrons, prótons e partículas-alfa são definidas como diretamente ionizantes, ou seja, são capazes de produzir ionização em um meio;</a:t>
            </a:r>
          </a:p>
          <a:p>
            <a:r>
              <a:rPr lang="pt-BR" sz="2800" dirty="0" smtClean="0"/>
              <a:t>Indiretamente ionizantes são as partículas sem carga: fótons (raios X e raios Gama (</a:t>
            </a:r>
            <a:r>
              <a:rPr lang="el-GR" sz="2800" dirty="0" smtClean="0"/>
              <a:t>γ</a:t>
            </a:r>
            <a:r>
              <a:rPr lang="pt-BR" sz="2800" dirty="0" smtClean="0"/>
              <a:t>)) e nêutrons.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Radiação </a:t>
            </a:r>
            <a:r>
              <a:rPr lang="pt-BR" sz="4000" dirty="0" smtClean="0"/>
              <a:t>ionizante</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Por terem energia suficiente para ionizar átomos e moléculas, as radiações são capazes de alterar conformações eletroquímicas, resultando em elétrons livres de alta energia, íons positivos ou radicais livres, que são responsáveis por produzir quebras de ligações químicas de uma célula.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US" sz="4000" dirty="0" err="1" smtClean="0"/>
              <a:t>Radia</a:t>
            </a:r>
            <a:r>
              <a:rPr lang="pt-BR" sz="4000" dirty="0" err="1" smtClean="0"/>
              <a:t>ção</a:t>
            </a:r>
            <a:r>
              <a:rPr lang="pt-BR" sz="4000" dirty="0" smtClean="0"/>
              <a:t> </a:t>
            </a:r>
            <a:r>
              <a:rPr lang="pt-BR" sz="4000" dirty="0" smtClean="0"/>
              <a:t>ionizante</a:t>
            </a:r>
            <a:endParaRPr lang="pt-BR" sz="4000" dirty="0"/>
          </a:p>
        </p:txBody>
      </p:sp>
      <p:pic>
        <p:nvPicPr>
          <p:cNvPr id="4" name="Espaço Reservado para Conteúdo 3" descr="ionization_por.jpg"/>
          <p:cNvPicPr>
            <a:picLocks noGrp="1" noChangeAspect="1"/>
          </p:cNvPicPr>
          <p:nvPr>
            <p:ph idx="1"/>
          </p:nvPr>
        </p:nvPicPr>
        <p:blipFill>
          <a:blip r:embed="rId2" cstate="print"/>
          <a:stretch>
            <a:fillRect/>
          </a:stretch>
        </p:blipFill>
        <p:spPr>
          <a:xfrm>
            <a:off x="1557337" y="1877219"/>
            <a:ext cx="6029325" cy="3971925"/>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US" sz="4000" dirty="0" err="1" smtClean="0"/>
              <a:t>Radia</a:t>
            </a:r>
            <a:r>
              <a:rPr lang="pt-BR" sz="4000" dirty="0" err="1" smtClean="0"/>
              <a:t>ção</a:t>
            </a:r>
            <a:r>
              <a:rPr lang="pt-BR" sz="4000" dirty="0" smtClean="0"/>
              <a:t> </a:t>
            </a:r>
            <a:r>
              <a:rPr lang="pt-BR" sz="4000" dirty="0" smtClean="0"/>
              <a:t>nuclear</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Composta por partículas ou ondas eletromagnéticas emitidas pelo núcleo durante o processo de reestruturação interna, para atingir a estabilidade.</a:t>
            </a:r>
          </a:p>
          <a:p>
            <a:r>
              <a:rPr lang="pt-BR" sz="2800" dirty="0" smtClean="0"/>
              <a:t>Devido à intensidade das forças atuantes dentro do núcleo atômico, as radiações nucleares são altamente energéticas (se comparadas com as radiações emitidas pelas camadas eletrônicas).</a:t>
            </a:r>
          </a:p>
          <a:p>
            <a:r>
              <a:rPr lang="pt-BR" sz="2800" dirty="0" smtClean="0"/>
              <a:t>Essas radiações são indicadores das transformações do núcleo instável, na busca de estados estáveis.</a:t>
            </a:r>
            <a:endParaRPr lang="pt-BR"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Fontes naturais e artificiais de radiação</a:t>
            </a:r>
            <a:endParaRPr lang="pt-BR" sz="4000" dirty="0"/>
          </a:p>
        </p:txBody>
      </p:sp>
      <p:sp>
        <p:nvSpPr>
          <p:cNvPr id="3" name="Espaço Reservado para Conteúdo 2"/>
          <p:cNvSpPr>
            <a:spLocks noGrp="1"/>
          </p:cNvSpPr>
          <p:nvPr>
            <p:ph idx="1"/>
          </p:nvPr>
        </p:nvSpPr>
        <p:spPr/>
        <p:txBody>
          <a:bodyPr/>
          <a:lstStyle/>
          <a:p>
            <a:r>
              <a:rPr lang="pt-BR" sz="2800" dirty="0" smtClean="0"/>
              <a:t>Fonte natural:</a:t>
            </a:r>
          </a:p>
          <a:p>
            <a:pPr lvl="1"/>
            <a:r>
              <a:rPr lang="pt-BR" dirty="0" smtClean="0"/>
              <a:t>Radiação cósmica:</a:t>
            </a:r>
          </a:p>
          <a:p>
            <a:pPr lvl="2"/>
            <a:r>
              <a:rPr lang="pt-BR" dirty="0" smtClean="0"/>
              <a:t>Elementos químicos sintetizados no momento da explosão de uma supernova, que são dispersos através do espaço sideral.</a:t>
            </a:r>
          </a:p>
          <a:p>
            <a:r>
              <a:rPr lang="pt-BR" sz="2800" dirty="0" smtClean="0"/>
              <a:t>Fontes artificiais:</a:t>
            </a:r>
          </a:p>
          <a:p>
            <a:pPr lvl="1"/>
            <a:r>
              <a:rPr lang="pt-BR" sz="2400" dirty="0" smtClean="0"/>
              <a:t>Dispositivos de diagnóstico e terapia na medicina;</a:t>
            </a:r>
          </a:p>
          <a:p>
            <a:pPr lvl="1"/>
            <a:r>
              <a:rPr lang="en-US" sz="2400" dirty="0" err="1" smtClean="0"/>
              <a:t>Medidores</a:t>
            </a:r>
            <a:r>
              <a:rPr lang="en-US" sz="2400" dirty="0" smtClean="0"/>
              <a:t> e </a:t>
            </a:r>
            <a:r>
              <a:rPr lang="en-US" sz="2400" dirty="0" err="1" smtClean="0"/>
              <a:t>radiografias</a:t>
            </a:r>
            <a:r>
              <a:rPr lang="en-US" sz="2400" dirty="0" smtClean="0"/>
              <a:t> </a:t>
            </a:r>
            <a:r>
              <a:rPr lang="en-US" sz="2400" dirty="0" err="1" smtClean="0"/>
              <a:t>usados</a:t>
            </a:r>
            <a:r>
              <a:rPr lang="en-US" sz="2400" dirty="0" smtClean="0"/>
              <a:t> </a:t>
            </a:r>
            <a:r>
              <a:rPr lang="en-US" sz="2400" dirty="0" err="1" smtClean="0"/>
              <a:t>na</a:t>
            </a:r>
            <a:r>
              <a:rPr lang="en-US" sz="2400" dirty="0" smtClean="0"/>
              <a:t> </a:t>
            </a:r>
            <a:r>
              <a:rPr lang="en-US" sz="2400" dirty="0" err="1" smtClean="0"/>
              <a:t>ind</a:t>
            </a:r>
            <a:r>
              <a:rPr lang="pt-BR" sz="2400" dirty="0" err="1" smtClean="0"/>
              <a:t>ústria</a:t>
            </a:r>
            <a:r>
              <a:rPr lang="pt-BR" sz="2400" dirty="0" smtClean="0"/>
              <a:t> e comércio;</a:t>
            </a:r>
          </a:p>
          <a:p>
            <a:pPr lvl="1"/>
            <a:r>
              <a:rPr lang="pt-BR" sz="2400" dirty="0" smtClean="0"/>
              <a:t>Instalações do ciclo de combustível nuclear e máquinas utilizadas nas pesquisas científicas.</a:t>
            </a:r>
          </a:p>
          <a:p>
            <a:pPr lvl="1"/>
            <a:endParaRPr lang="pt-BR" sz="2400" dirty="0" smtClean="0"/>
          </a:p>
          <a:p>
            <a:pPr lvl="1"/>
            <a:endParaRPr lang="pt-B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Efeitos biológicos</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A relação entre exposição à radiação ionizante e os efeitos biológicos induzidos no homem foi estabelecida pela observação de efeitos danosos em pessoas nas primeiras exposições com raios X, e em exposições com </a:t>
            </a:r>
            <a:r>
              <a:rPr lang="pt-BR" sz="2800" dirty="0" err="1" smtClean="0"/>
              <a:t>radionuclídeos</a:t>
            </a:r>
            <a:r>
              <a:rPr lang="pt-BR" sz="2800" dirty="0" smtClean="0"/>
              <a:t> sofridas pelos pioneiros nas descobertas sobre radioatividade.</a:t>
            </a:r>
          </a:p>
          <a:p>
            <a:pPr lvl="1"/>
            <a:r>
              <a:rPr lang="pt-BR" sz="2400" dirty="0" smtClean="0"/>
              <a:t>como exemplo o caso de Marie Curie, que, junto de seu marido, descobriu o polônio (</a:t>
            </a:r>
            <a:r>
              <a:rPr lang="pt-BR" sz="2400" dirty="0" err="1" smtClean="0"/>
              <a:t>Pu</a:t>
            </a:r>
            <a:r>
              <a:rPr lang="pt-BR" sz="2400" dirty="0" smtClean="0"/>
              <a:t>) e o rádio (Ra), e que faleceu por conta de uma grave leucemia devido à exposição maciça a radiação de suas descobertas.</a:t>
            </a:r>
            <a:endParaRPr lang="pt-BR"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Marie Curie</a:t>
            </a:r>
            <a:endParaRPr lang="pt-BR" sz="4000" dirty="0"/>
          </a:p>
        </p:txBody>
      </p:sp>
      <p:pic>
        <p:nvPicPr>
          <p:cNvPr id="4" name="Espaço Reservado para Conteúdo 3" descr="Marie Curie.jpeg"/>
          <p:cNvPicPr>
            <a:picLocks noGrp="1" noChangeAspect="1"/>
          </p:cNvPicPr>
          <p:nvPr>
            <p:ph idx="1"/>
          </p:nvPr>
        </p:nvPicPr>
        <p:blipFill>
          <a:blip r:embed="rId2" cstate="print"/>
          <a:stretch>
            <a:fillRect/>
          </a:stretch>
        </p:blipFill>
        <p:spPr>
          <a:xfrm>
            <a:off x="1563155" y="1600200"/>
            <a:ext cx="6017690" cy="4525963"/>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Exposição à radiação</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A exposição do homem ou parte de seus tecidos à radiação, pode ter resultados bem diferentes:</a:t>
            </a:r>
          </a:p>
          <a:p>
            <a:pPr lvl="1"/>
            <a:r>
              <a:rPr lang="pt-BR" sz="2400" dirty="0" smtClean="0"/>
              <a:t>Se ocorreu de uma única vez (exames radiológicos, como tomografia);</a:t>
            </a:r>
          </a:p>
          <a:p>
            <a:pPr lvl="1"/>
            <a:r>
              <a:rPr lang="pt-BR" sz="2400" dirty="0" smtClean="0"/>
              <a:t>Se ocorreu de maneira fracionada (tratamento radioterápico);</a:t>
            </a:r>
          </a:p>
          <a:p>
            <a:pPr lvl="1"/>
            <a:r>
              <a:rPr lang="pt-BR" sz="2400" dirty="0" smtClean="0"/>
              <a:t>Se ocorreu periodicamente (rotinas de trabalho com material radioativo em instalações nucleares).</a:t>
            </a:r>
            <a:endParaRPr lang="pt-BR"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Exposição à radiação</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Ainda, a reação de um indivíduo exposto à radiação depende de outros fatores, tais como:</a:t>
            </a:r>
          </a:p>
          <a:p>
            <a:pPr lvl="1"/>
            <a:r>
              <a:rPr lang="pt-BR" sz="2400" dirty="0" smtClean="0"/>
              <a:t>Quantidade total (acumulativa) de radiação recebida;</a:t>
            </a:r>
          </a:p>
          <a:p>
            <a:pPr lvl="1"/>
            <a:r>
              <a:rPr lang="pt-BR" sz="2400" dirty="0" smtClean="0"/>
              <a:t>Quantidade total (acumulativa) de radiação recebida anteriormente pelo organismo, sem recuperação;</a:t>
            </a:r>
          </a:p>
          <a:p>
            <a:pPr lvl="1"/>
            <a:r>
              <a:rPr lang="pt-BR" sz="2400" dirty="0" smtClean="0"/>
              <a:t>Textura orgânica individual;</a:t>
            </a:r>
          </a:p>
          <a:p>
            <a:pPr lvl="1"/>
            <a:r>
              <a:rPr lang="pt-BR" sz="2400" dirty="0" smtClean="0"/>
              <a:t>Dano físico recebido simultaneament</a:t>
            </a:r>
            <a:r>
              <a:rPr lang="pt-BR" sz="2400" dirty="0" smtClean="0"/>
              <a:t>e com a dose de radiação (como queimaduras devido ao calor gerado);</a:t>
            </a:r>
          </a:p>
          <a:p>
            <a:pPr lvl="1"/>
            <a:r>
              <a:rPr lang="pt-BR" sz="2400" dirty="0" smtClean="0"/>
              <a:t>Intervalo de tempo durante o qual a quantidade total de radiação foi recebida.</a:t>
            </a:r>
            <a:endParaRPr lang="pt-BR"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Exposição à radiação</a:t>
            </a:r>
            <a:endParaRPr lang="pt-BR" sz="4000" dirty="0"/>
          </a:p>
        </p:txBody>
      </p:sp>
      <p:sp>
        <p:nvSpPr>
          <p:cNvPr id="3" name="Espaço Reservado para Conteúdo 2"/>
          <p:cNvSpPr>
            <a:spLocks noGrp="1"/>
          </p:cNvSpPr>
          <p:nvPr>
            <p:ph idx="1"/>
          </p:nvPr>
        </p:nvSpPr>
        <p:spPr/>
        <p:txBody>
          <a:bodyPr>
            <a:normAutofit fontScale="92500"/>
          </a:bodyPr>
          <a:lstStyle/>
          <a:p>
            <a:r>
              <a:rPr lang="pt-BR" sz="2800" dirty="0" smtClean="0"/>
              <a:t>A radiação alfa é constituída por núcleos de hélio (sem elétrons) e pode ser detida por uma folha de papel;</a:t>
            </a:r>
          </a:p>
          <a:p>
            <a:r>
              <a:rPr lang="pt-BR" sz="2800" dirty="0" smtClean="0"/>
              <a:t>A radiação beta é constituída pelo envio de apenas um elétron rápido e pode ser detida por uma folha de alumínio, pedaço de plástico e tecido humano;</a:t>
            </a:r>
          </a:p>
          <a:p>
            <a:r>
              <a:rPr lang="pt-BR" sz="2800" dirty="0" smtClean="0"/>
              <a:t>A radiação gama, constituída por ondas eletromagnéticas é absorvida ao penetrar um material mais denso (como concreto ou chumbo);</a:t>
            </a:r>
          </a:p>
          <a:p>
            <a:r>
              <a:rPr lang="pt-BR" sz="2800" dirty="0" smtClean="0"/>
              <a:t>As partículas de nêutron podem atravessar o concreto.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Exposição à radiação</a:t>
            </a:r>
            <a:endParaRPr lang="pt-BR" sz="4000" dirty="0"/>
          </a:p>
        </p:txBody>
      </p:sp>
      <p:pic>
        <p:nvPicPr>
          <p:cNvPr id="4" name="Espaço Reservado para Conteúdo 3" descr="penetracao_radiacao.png"/>
          <p:cNvPicPr>
            <a:picLocks noGrp="1" noChangeAspect="1"/>
          </p:cNvPicPr>
          <p:nvPr>
            <p:ph idx="1"/>
          </p:nvPr>
        </p:nvPicPr>
        <p:blipFill>
          <a:blip r:embed="rId2" cstate="print"/>
          <a:stretch>
            <a:fillRect/>
          </a:stretch>
        </p:blipFill>
        <p:spPr>
          <a:xfrm>
            <a:off x="1554691" y="1600200"/>
            <a:ext cx="6034618" cy="4525963"/>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Exposição à radiação</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Os fótons (raios X e raios gama) e nêutrons constituem as radiações mais penetrantes e causam danos biológicos diferentes conforme a taxa de dose, energia e tipo de irradiação.</a:t>
            </a:r>
            <a:endParaRPr lang="pt-BR"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Exposição à radiação</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Quando a quantidade de efeitos biológicos é pequena, o organismo pode ser recuperar, sem que a pessoa perceba;</a:t>
            </a:r>
          </a:p>
          <a:p>
            <a:r>
              <a:rPr lang="pt-BR" sz="2800" dirty="0" smtClean="0"/>
              <a:t>Quando a quantidade ou frequência de efeitos biológicos produzidos pela radiação desequilibra o organismo humano ou o funcionamento de um órgão, surgem sintomas clínicos denunciadores da incapacidade do organismo de superar ou reparar tais danos, que são as doenças.</a:t>
            </a:r>
            <a:endParaRPr lang="pt-BR"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Exposição à radiação</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Um modelo conservativo em termos de proteção radiológica seria a correlação linear entre dose e efeito, mesmo para baixos valores de dose.</a:t>
            </a:r>
          </a:p>
          <a:p>
            <a:pPr lvl="1"/>
            <a:r>
              <a:rPr lang="pt-BR" sz="2400" dirty="0" smtClean="0"/>
              <a:t>Este modelo, utilizado até hoje, se baseia numa extrapolação para doses muito baixas, do ajuste da curva obtida entre dose e efeitos biológicos observados em valores elevados.</a:t>
            </a:r>
            <a:endParaRPr lang="pt-BR"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Efeitos estocásticos</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São efeitos cuja probabilidade de ocorrência é em função da dose de radiação recebida, não existindo limiar, como é o caso dos cânceres;</a:t>
            </a:r>
          </a:p>
          <a:p>
            <a:r>
              <a:rPr lang="pt-BR" sz="2800" dirty="0" smtClean="0"/>
              <a:t>Para qualquer indivíduo irradiado há uma chance de que certos efeitos atribuídos à radiação se manifestem, mas só depois de um período longo (dezenas de anos) a partir do momento que ocorreu o evento de irradiação.</a:t>
            </a:r>
            <a:endParaRPr lang="pt-BR"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Danos celulares</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O processo de ionização pode alterar a estrutura das moléculas que contém os átomos atingidos.</a:t>
            </a:r>
          </a:p>
          <a:p>
            <a:pPr lvl="1"/>
            <a:r>
              <a:rPr lang="pt-BR" sz="2400" dirty="0" smtClean="0"/>
              <a:t>Se a energia de excitação ultrapassar a energia de ligação química entre os átomos, pode ocorrer quebra dessas ligações, criando mudanças moleculares;</a:t>
            </a:r>
          </a:p>
          <a:p>
            <a:pPr lvl="1"/>
            <a:r>
              <a:rPr lang="pt-BR" sz="2400" dirty="0" smtClean="0"/>
              <a:t>Se células são compostas por essas moléculas modificadas, elas sofrerão as consequências das alterações:</a:t>
            </a:r>
          </a:p>
          <a:p>
            <a:pPr lvl="2"/>
            <a:r>
              <a:rPr lang="pt-BR" sz="2000" dirty="0" smtClean="0"/>
              <a:t>Produzindo radicais livres, íons e elétrons.</a:t>
            </a:r>
            <a:endParaRPr lang="pt-BR"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Danos celulares</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Se a molécula alterada possui papel crítico para o funcionamento da célula, pode resultar na alteração ou na morte da mesma;</a:t>
            </a:r>
          </a:p>
          <a:p>
            <a:r>
              <a:rPr lang="pt-BR" sz="2800" dirty="0" smtClean="0"/>
              <a:t>Quando a alteração molecular tem caráter deletério, ela significa um dano.</a:t>
            </a:r>
            <a:endParaRPr lang="pt-BR"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US" sz="4000" dirty="0" err="1" smtClean="0"/>
              <a:t>Danos</a:t>
            </a:r>
            <a:r>
              <a:rPr lang="en-US" sz="4000" dirty="0" smtClean="0"/>
              <a:t> </a:t>
            </a:r>
            <a:r>
              <a:rPr lang="en-US" sz="4000" dirty="0" err="1" smtClean="0"/>
              <a:t>celulares</a:t>
            </a:r>
            <a:endParaRPr lang="pt-BR" sz="4000" dirty="0"/>
          </a:p>
        </p:txBody>
      </p:sp>
      <p:sp>
        <p:nvSpPr>
          <p:cNvPr id="3" name="Espaço Reservado para Conteúdo 2"/>
          <p:cNvSpPr>
            <a:spLocks noGrp="1"/>
          </p:cNvSpPr>
          <p:nvPr>
            <p:ph idx="1"/>
          </p:nvPr>
        </p:nvSpPr>
        <p:spPr/>
        <p:txBody>
          <a:bodyPr>
            <a:normAutofit/>
          </a:bodyPr>
          <a:lstStyle/>
          <a:p>
            <a:r>
              <a:rPr lang="en-US" sz="2800" dirty="0" smtClean="0"/>
              <a:t>Os </a:t>
            </a:r>
            <a:r>
              <a:rPr lang="en-US" sz="2800" dirty="0" err="1" smtClean="0"/>
              <a:t>danos</a:t>
            </a:r>
            <a:r>
              <a:rPr lang="en-US" sz="2800" dirty="0" smtClean="0"/>
              <a:t> </a:t>
            </a:r>
            <a:r>
              <a:rPr lang="en-US" sz="2800" dirty="0" err="1" smtClean="0"/>
              <a:t>relacionados</a:t>
            </a:r>
            <a:r>
              <a:rPr lang="en-US" sz="2800" dirty="0" smtClean="0"/>
              <a:t> </a:t>
            </a:r>
            <a:r>
              <a:rPr lang="pt-BR" sz="2800" dirty="0" smtClean="0"/>
              <a:t>à molécula do DNA são os mais significativos:</a:t>
            </a:r>
          </a:p>
          <a:p>
            <a:pPr lvl="1"/>
            <a:r>
              <a:rPr lang="pt-BR" sz="2400" dirty="0" smtClean="0"/>
              <a:t>As células danificadas podem morrer ao tentar se dividir, ou conseguir realizar reparos mediados por enzimas;</a:t>
            </a:r>
          </a:p>
          <a:p>
            <a:pPr lvl="1"/>
            <a:r>
              <a:rPr lang="pt-BR" sz="2400" dirty="0" smtClean="0"/>
              <a:t>Se o reparo é eficiente e em tempo curto, o DNA pode voltar à sua composição original;</a:t>
            </a:r>
          </a:p>
          <a:p>
            <a:pPr lvl="1"/>
            <a:r>
              <a:rPr lang="pt-BR" sz="2400" dirty="0" smtClean="0"/>
              <a:t>Em um reparo propenso a erros, pode dar origem a mutações na sequência de bases ou rearranjos mais grosseiros, podendo levar à morte reprodutiva da célula ou a alterações no material genético das células sobreviventes, com consequências em longo prazo.</a:t>
            </a:r>
            <a:endParaRPr lang="pt-BR"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Dose </a:t>
            </a:r>
            <a:r>
              <a:rPr lang="pt-BR" sz="4000" dirty="0" smtClean="0"/>
              <a:t>absorvida </a:t>
            </a:r>
            <a:r>
              <a:rPr lang="pt-BR" sz="4000" dirty="0" smtClean="0"/>
              <a:t>(</a:t>
            </a:r>
            <a:r>
              <a:rPr lang="pt-BR" sz="4000" i="1" dirty="0" smtClean="0"/>
              <a:t>D</a:t>
            </a:r>
            <a:r>
              <a:rPr lang="pt-BR" sz="4000" dirty="0" smtClean="0"/>
              <a:t>)</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Dose absorvida de radiação ou simplesmente dose </a:t>
            </a:r>
            <a:r>
              <a:rPr lang="pt-BR" sz="2800" dirty="0" smtClean="0"/>
              <a:t>(</a:t>
            </a:r>
            <a:r>
              <a:rPr lang="pt-BR" sz="2800" i="1" dirty="0" smtClean="0"/>
              <a:t>D</a:t>
            </a:r>
            <a:r>
              <a:rPr lang="pt-BR" sz="2800" dirty="0" smtClean="0"/>
              <a:t>), corresponde à energia que a radiação deposita por unidade de massa, com unidade de medida denominada </a:t>
            </a:r>
            <a:r>
              <a:rPr lang="pt-BR" sz="2800" i="1" dirty="0" smtClean="0"/>
              <a:t>Gray</a:t>
            </a:r>
            <a:r>
              <a:rPr lang="pt-BR" sz="2800" dirty="0" smtClean="0"/>
              <a:t> (</a:t>
            </a:r>
            <a:r>
              <a:rPr lang="pt-BR" sz="2800" dirty="0" err="1" smtClean="0"/>
              <a:t>Gy</a:t>
            </a:r>
            <a:r>
              <a:rPr lang="pt-BR" sz="2800" dirty="0" smtClean="0"/>
              <a:t>), equivalente a 1 Joule/kg.</a:t>
            </a:r>
          </a:p>
          <a:p>
            <a:r>
              <a:rPr lang="pt-BR" sz="2800" dirty="0" smtClean="0"/>
              <a:t>É definida como uma função num ponto P, de interesse:</a:t>
            </a:r>
            <a:endParaRPr lang="pt-BR" sz="2400" dirty="0"/>
          </a:p>
          <a:p>
            <a:pPr algn="ctr">
              <a:buNone/>
            </a:pPr>
            <a:endParaRPr lang="pt-BR" sz="2800" dirty="0" smtClean="0"/>
          </a:p>
        </p:txBody>
      </p:sp>
      <p:sp>
        <p:nvSpPr>
          <p:cNvPr id="215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pt-BR"/>
          </a:p>
        </p:txBody>
      </p:sp>
      <p:sp>
        <p:nvSpPr>
          <p:cNvPr id="2150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pt-BR"/>
          </a:p>
        </p:txBody>
      </p:sp>
      <p:sp>
        <p:nvSpPr>
          <p:cNvPr id="21511"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pt-BR"/>
          </a:p>
        </p:txBody>
      </p:sp>
      <p:pic>
        <p:nvPicPr>
          <p:cNvPr id="21510" name="Picture 6"/>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957638" y="4437112"/>
            <a:ext cx="1228725" cy="8763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Dose Equivalente (</a:t>
            </a:r>
            <a:r>
              <a:rPr lang="pt-BR" sz="4000" i="1" dirty="0" smtClean="0"/>
              <a:t>H</a:t>
            </a:r>
            <a:r>
              <a:rPr lang="pt-BR" sz="4000" dirty="0" smtClean="0"/>
              <a:t>)</a:t>
            </a:r>
            <a:endParaRPr lang="pt-BR" sz="4000" i="1" dirty="0"/>
          </a:p>
        </p:txBody>
      </p:sp>
      <p:sp>
        <p:nvSpPr>
          <p:cNvPr id="3" name="Espaço Reservado para Conteúdo 2"/>
          <p:cNvSpPr>
            <a:spLocks noGrp="1"/>
          </p:cNvSpPr>
          <p:nvPr>
            <p:ph idx="1"/>
          </p:nvPr>
        </p:nvSpPr>
        <p:spPr/>
        <p:txBody>
          <a:bodyPr>
            <a:normAutofit/>
          </a:bodyPr>
          <a:lstStyle/>
          <a:p>
            <a:r>
              <a:rPr lang="pt-BR" sz="2800" dirty="0" smtClean="0"/>
              <a:t>A dose absorvida </a:t>
            </a:r>
            <a:r>
              <a:rPr lang="pt-BR" sz="2800" dirty="0" smtClean="0"/>
              <a:t>(</a:t>
            </a:r>
            <a:r>
              <a:rPr lang="pt-BR" sz="2800" i="1" dirty="0" smtClean="0"/>
              <a:t>D</a:t>
            </a:r>
            <a:r>
              <a:rPr lang="pt-BR" sz="2800" dirty="0" smtClean="0"/>
              <a:t>) leva em conta a energia absorvida no ar e no tecido humano, mas ainda não dá uma ideia mais concreta dos efeitos biológicos no homem;</a:t>
            </a:r>
          </a:p>
          <a:p>
            <a:r>
              <a:rPr lang="pt-BR" sz="2800" dirty="0" smtClean="0"/>
              <a:t>A Dose Equivalente é obtida multiplicando-se </a:t>
            </a:r>
            <a:r>
              <a:rPr lang="pt-BR" sz="2800" i="1" dirty="0" smtClean="0"/>
              <a:t>D</a:t>
            </a:r>
            <a:r>
              <a:rPr lang="pt-BR" sz="2800" dirty="0" smtClean="0"/>
              <a:t> pelo fator de qualidade </a:t>
            </a:r>
            <a:r>
              <a:rPr lang="pt-BR" sz="2800" i="1" dirty="0" smtClean="0"/>
              <a:t>Q</a:t>
            </a:r>
            <a:r>
              <a:rPr lang="pt-BR" sz="2800" dirty="0" smtClean="0"/>
              <a:t> da radiação, e sua unidade de medida é o </a:t>
            </a:r>
            <a:r>
              <a:rPr lang="pt-BR" sz="2800" i="1" dirty="0" err="1" smtClean="0"/>
              <a:t>Sievert</a:t>
            </a:r>
            <a:r>
              <a:rPr lang="pt-BR" sz="2800" dirty="0" smtClean="0"/>
              <a:t> (</a:t>
            </a:r>
            <a:r>
              <a:rPr lang="pt-BR" sz="2800" dirty="0" err="1" smtClean="0"/>
              <a:t>Sv</a:t>
            </a:r>
            <a:r>
              <a:rPr lang="pt-BR" sz="2800" dirty="0" smtClean="0"/>
              <a:t>) que equivale a 1 Joule/kg:</a:t>
            </a:r>
          </a:p>
          <a:p>
            <a:pPr algn="ctr">
              <a:buNone/>
            </a:pPr>
            <a:endParaRPr lang="pt-BR" sz="2400" dirty="0"/>
          </a:p>
        </p:txBody>
      </p:sp>
      <p:sp>
        <p:nvSpPr>
          <p:cNvPr id="204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pt-BR"/>
          </a:p>
        </p:txBody>
      </p:sp>
      <p:sp>
        <p:nvSpPr>
          <p:cNvPr id="20484"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pt-BR"/>
          </a:p>
        </p:txBody>
      </p:sp>
      <p:pic>
        <p:nvPicPr>
          <p:cNvPr id="20483"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786188" y="5085184"/>
            <a:ext cx="1571625" cy="476250"/>
          </a:xfrm>
          <a:prstGeom prst="rect">
            <a:avLst/>
          </a:prstGeom>
          <a:noFill/>
        </p:spPr>
      </p:pic>
      <p:sp>
        <p:nvSpPr>
          <p:cNvPr id="20485" name="Rectangle 5"/>
          <p:cNvSpPr>
            <a:spLocks noChangeArrowheads="1"/>
          </p:cNvSpPr>
          <p:nvPr/>
        </p:nvSpPr>
        <p:spPr bwMode="auto">
          <a:xfrm>
            <a:off x="0" y="9334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Fatores de influência</a:t>
            </a:r>
            <a:endParaRPr lang="pt-BR" sz="4000" dirty="0"/>
          </a:p>
        </p:txBody>
      </p:sp>
      <p:sp>
        <p:nvSpPr>
          <p:cNvPr id="3" name="Espaço Reservado para Conteúdo 2"/>
          <p:cNvSpPr>
            <a:spLocks noGrp="1"/>
          </p:cNvSpPr>
          <p:nvPr>
            <p:ph idx="1"/>
          </p:nvPr>
        </p:nvSpPr>
        <p:spPr/>
        <p:txBody>
          <a:bodyPr>
            <a:normAutofit/>
          </a:bodyPr>
          <a:lstStyle/>
          <a:p>
            <a:r>
              <a:rPr lang="pt-BR" sz="2800" b="1" dirty="0" smtClean="0"/>
              <a:t>Idade</a:t>
            </a:r>
            <a:r>
              <a:rPr lang="pt-BR" sz="2800" dirty="0" smtClean="0"/>
              <a:t>: o indivíduo é mais vulnerável à radiação quando criança ou idoso.</a:t>
            </a:r>
          </a:p>
          <a:p>
            <a:r>
              <a:rPr lang="pt-BR" sz="2800" b="1" dirty="0" smtClean="0"/>
              <a:t>Sexo</a:t>
            </a:r>
            <a:r>
              <a:rPr lang="pt-BR" sz="2800" dirty="0" smtClean="0"/>
              <a:t>: as mulheres são mais sensíveis, pois possuem órgãos reprodutores internos e os seios são constituídos de tecidos muito sensíveis à radiação.</a:t>
            </a:r>
          </a:p>
          <a:p>
            <a:pPr lvl="1"/>
            <a:r>
              <a:rPr lang="pt-BR" sz="2400" dirty="0" smtClean="0"/>
              <a:t>Ainda existe o período de gestação, onde o feto apresenta a fase mais vulnerável à radiação e a mãe tem o organismo bastante modificado em forma, composição hormonal e química.</a:t>
            </a:r>
            <a:endParaRPr lang="pt-BR"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Leucemia</a:t>
            </a:r>
            <a:endParaRPr lang="pt-BR" sz="4000" dirty="0"/>
          </a:p>
        </p:txBody>
      </p:sp>
      <p:sp>
        <p:nvSpPr>
          <p:cNvPr id="3" name="Espaço Reservado para Conteúdo 2"/>
          <p:cNvSpPr>
            <a:spLocks noGrp="1"/>
          </p:cNvSpPr>
          <p:nvPr>
            <p:ph idx="1"/>
          </p:nvPr>
        </p:nvSpPr>
        <p:spPr/>
        <p:txBody>
          <a:bodyPr>
            <a:normAutofit lnSpcReduction="10000"/>
          </a:bodyPr>
          <a:lstStyle/>
          <a:p>
            <a:r>
              <a:rPr lang="pt-BR" sz="2800" dirty="0" smtClean="0"/>
              <a:t>Os primeiros indícios de que a exposição à radiação ionizante causava o desenvolvimento de leucemia foram objetos de estudos realizados com sobreviventes dos bombardeios atômicos de Hiroshima e Nagasaki durante a 2ª Guerra Mundial;</a:t>
            </a:r>
          </a:p>
          <a:p>
            <a:r>
              <a:rPr lang="pt-BR" sz="2800" dirty="0" smtClean="0"/>
              <a:t>Por ter baixo período de latência, a leucemia é a morbidade de interesse dos resultados deste trabalho;</a:t>
            </a:r>
          </a:p>
          <a:p>
            <a:r>
              <a:rPr lang="pt-BR" sz="2800" dirty="0" smtClean="0"/>
              <a:t>É uma doença que afeta diretamente a medula óssea, o sangue e o sistema linfático.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Modelo BEIR VII</a:t>
            </a:r>
            <a:endParaRPr lang="pt-BR" sz="4000" dirty="0"/>
          </a:p>
        </p:txBody>
      </p:sp>
      <p:sp>
        <p:nvSpPr>
          <p:cNvPr id="3" name="Espaço Reservado para Conteúdo 2"/>
          <p:cNvSpPr>
            <a:spLocks noGrp="1"/>
          </p:cNvSpPr>
          <p:nvPr>
            <p:ph idx="1"/>
          </p:nvPr>
        </p:nvSpPr>
        <p:spPr/>
        <p:txBody>
          <a:bodyPr>
            <a:normAutofit fontScale="92500" lnSpcReduction="10000"/>
          </a:bodyPr>
          <a:lstStyle/>
          <a:p>
            <a:r>
              <a:rPr lang="pt-BR" sz="2800" dirty="0" smtClean="0"/>
              <a:t>É um documento de estimativas de risco de cânceres em indivíduos expostos a radiações ionizantes de baixas doses e baixa transferência linear de energia, como os raios X e gama;</a:t>
            </a:r>
          </a:p>
          <a:p>
            <a:r>
              <a:rPr lang="pt-BR" sz="2800" dirty="0" smtClean="0"/>
              <a:t>Tem como princípio o </a:t>
            </a:r>
            <a:r>
              <a:rPr lang="pt-BR" sz="2800" i="1" dirty="0" err="1" smtClean="0"/>
              <a:t>Life</a:t>
            </a:r>
            <a:r>
              <a:rPr lang="pt-BR" sz="2800" i="1" dirty="0" smtClean="0"/>
              <a:t> </a:t>
            </a:r>
            <a:r>
              <a:rPr lang="pt-BR" sz="2800" i="1" dirty="0" err="1" smtClean="0"/>
              <a:t>Span</a:t>
            </a:r>
            <a:r>
              <a:rPr lang="pt-BR" sz="2800" i="1" dirty="0" smtClean="0"/>
              <a:t> </a:t>
            </a:r>
            <a:r>
              <a:rPr lang="pt-BR" sz="2800" i="1" dirty="0" err="1" smtClean="0"/>
              <a:t>Study</a:t>
            </a:r>
            <a:r>
              <a:rPr lang="pt-BR" sz="2800" dirty="0" smtClean="0"/>
              <a:t> (LSS), que são estatísticas obtidas a partir do estudo feito pela </a:t>
            </a:r>
            <a:r>
              <a:rPr lang="pt-BR" sz="2800" i="1" dirty="0" err="1" smtClean="0"/>
              <a:t>Radiation</a:t>
            </a:r>
            <a:r>
              <a:rPr lang="pt-BR" sz="2800" i="1" dirty="0" smtClean="0"/>
              <a:t> </a:t>
            </a:r>
            <a:r>
              <a:rPr lang="pt-BR" sz="2800" i="1" dirty="0" err="1" smtClean="0"/>
              <a:t>Effects</a:t>
            </a:r>
            <a:r>
              <a:rPr lang="pt-BR" sz="2800" i="1" dirty="0" smtClean="0"/>
              <a:t> Research </a:t>
            </a:r>
            <a:r>
              <a:rPr lang="pt-BR" sz="2800" i="1" dirty="0" err="1" smtClean="0"/>
              <a:t>Foundation</a:t>
            </a:r>
            <a:r>
              <a:rPr lang="pt-BR" sz="2800" i="1" dirty="0" smtClean="0"/>
              <a:t> </a:t>
            </a:r>
            <a:r>
              <a:rPr lang="pt-BR" sz="2800" dirty="0" smtClean="0"/>
              <a:t>(RERF) com um grupo de cerca de 120,000 sobreviventes das bombas atômicas em Hiroshima e Nagasaki, em 1945;</a:t>
            </a:r>
          </a:p>
          <a:p>
            <a:r>
              <a:rPr lang="pt-BR" sz="2800" dirty="0" smtClean="0"/>
              <a:t>O BEIR VII limita como baixas doses valores até 100 </a:t>
            </a:r>
            <a:r>
              <a:rPr lang="pt-BR" sz="2800" dirty="0" err="1" smtClean="0"/>
              <a:t>mSv</a:t>
            </a:r>
            <a:r>
              <a:rPr lang="pt-BR" sz="2800" dirty="0" smtClean="0"/>
              <a:t> (0,1 </a:t>
            </a:r>
            <a:r>
              <a:rPr lang="pt-BR" sz="2800" dirty="0" err="1" smtClean="0"/>
              <a:t>Sv</a:t>
            </a:r>
            <a:r>
              <a:rPr lang="pt-BR" sz="2800" dirty="0" smtClean="0"/>
              <a:t>) para radiações </a:t>
            </a:r>
            <a:r>
              <a:rPr lang="pt-BR" sz="2800" i="1" dirty="0" err="1" smtClean="0"/>
              <a:t>low-LET</a:t>
            </a:r>
            <a:r>
              <a:rPr lang="pt-BR" sz="2800" i="1" dirty="0" smtClean="0"/>
              <a:t>.</a:t>
            </a:r>
            <a:endParaRPr lang="pt-BR"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Modelo BEIR VII</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A função proposta pelo BEIR VII para leucemia é expressa como uma função linear-quadrática da dose que depende de sexo, idade de exposição e tempo desde a exposição:</a:t>
            </a:r>
            <a:endParaRPr lang="pt-BR" sz="2400" dirty="0" smtClean="0"/>
          </a:p>
          <a:p>
            <a:pPr algn="ctr"/>
            <a:endParaRPr lang="pt-BR" sz="2800" dirty="0" smtClean="0"/>
          </a:p>
        </p:txBody>
      </p:sp>
      <p:sp>
        <p:nvSpPr>
          <p:cNvPr id="4710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pt-BR"/>
          </a:p>
        </p:txBody>
      </p:sp>
      <p:pic>
        <p:nvPicPr>
          <p:cNvPr id="47108" name="Picture 4"/>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755576" y="4149080"/>
            <a:ext cx="7632848" cy="723900"/>
          </a:xfrm>
          <a:prstGeom prst="rect">
            <a:avLst/>
          </a:prstGeom>
          <a:noFill/>
        </p:spPr>
      </p:pic>
      <p:sp>
        <p:nvSpPr>
          <p:cNvPr id="47110" name="Rectangle 6"/>
          <p:cNvSpPr>
            <a:spLocks noChangeArrowheads="1"/>
          </p:cNvSpPr>
          <p:nvPr/>
        </p:nvSpPr>
        <p:spPr bwMode="auto">
          <a:xfrm>
            <a:off x="0" y="11811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Modelo BEIR VII</a:t>
            </a:r>
            <a:endParaRPr lang="pt-BR" sz="4000" dirty="0"/>
          </a:p>
        </p:txBody>
      </p:sp>
      <p:graphicFrame>
        <p:nvGraphicFramePr>
          <p:cNvPr id="4" name="Espaço Reservado para Conteúdo 3"/>
          <p:cNvGraphicFramePr>
            <a:graphicFrameLocks noGrp="1"/>
          </p:cNvGraphicFramePr>
          <p:nvPr>
            <p:ph idx="1"/>
          </p:nvPr>
        </p:nvGraphicFramePr>
        <p:xfrm>
          <a:off x="457200" y="1600200"/>
          <a:ext cx="8229600" cy="2966720"/>
        </p:xfrm>
        <a:graphic>
          <a:graphicData uri="http://schemas.openxmlformats.org/drawingml/2006/table">
            <a:tbl>
              <a:tblPr firstRow="1" bandRow="1">
                <a:tableStyleId>{5C22544A-7EE6-4342-B048-85BDC9FD1C3A}</a:tableStyleId>
              </a:tblPr>
              <a:tblGrid>
                <a:gridCol w="4114800"/>
                <a:gridCol w="4114800"/>
              </a:tblGrid>
              <a:tr h="370840">
                <a:tc>
                  <a:txBody>
                    <a:bodyPr/>
                    <a:lstStyle/>
                    <a:p>
                      <a:pPr algn="ctr"/>
                      <a:r>
                        <a:rPr lang="pt-BR" dirty="0" smtClean="0"/>
                        <a:t>Parâmetro</a:t>
                      </a:r>
                      <a:endParaRPr lang="pt-BR" dirty="0"/>
                    </a:p>
                  </a:txBody>
                  <a:tcPr anchor="ctr"/>
                </a:tc>
                <a:tc>
                  <a:txBody>
                    <a:bodyPr/>
                    <a:lstStyle/>
                    <a:p>
                      <a:pPr algn="ctr"/>
                      <a:r>
                        <a:rPr lang="pt-BR" dirty="0" smtClean="0"/>
                        <a:t>Modelo ERR</a:t>
                      </a:r>
                      <a:endParaRPr lang="pt-BR" dirty="0"/>
                    </a:p>
                  </a:txBody>
                  <a:tcPr anchor="ctr"/>
                </a:tc>
              </a:tr>
              <a:tr h="370840">
                <a:tc>
                  <a:txBody>
                    <a:bodyPr/>
                    <a:lstStyle/>
                    <a:p>
                      <a:pPr algn="ctr"/>
                      <a:r>
                        <a:rPr lang="pt-BR" sz="1800" kern="1200" dirty="0" err="1" smtClean="0">
                          <a:solidFill>
                            <a:schemeClr val="dk1"/>
                          </a:solidFill>
                          <a:latin typeface="+mn-lt"/>
                          <a:ea typeface="+mn-ea"/>
                          <a:cs typeface="+mn-cs"/>
                        </a:rPr>
                        <a:t>β</a:t>
                      </a:r>
                      <a:r>
                        <a:rPr lang="pt-BR" sz="1800" kern="1200" baseline="-25000" dirty="0" err="1" smtClean="0">
                          <a:solidFill>
                            <a:schemeClr val="dk1"/>
                          </a:solidFill>
                          <a:latin typeface="+mn-lt"/>
                          <a:ea typeface="+mn-ea"/>
                          <a:cs typeface="+mn-cs"/>
                        </a:rPr>
                        <a:t>M</a:t>
                      </a:r>
                      <a:endParaRPr lang="pt-BR" dirty="0"/>
                    </a:p>
                  </a:txBody>
                  <a:tcPr anchor="ctr"/>
                </a:tc>
                <a:tc>
                  <a:txBody>
                    <a:bodyPr/>
                    <a:lstStyle/>
                    <a:p>
                      <a:pPr algn="ctr"/>
                      <a:r>
                        <a:rPr lang="pt-BR" dirty="0" smtClean="0"/>
                        <a:t>1,1</a:t>
                      </a:r>
                      <a:r>
                        <a:rPr lang="pt-BR" baseline="0" dirty="0" smtClean="0"/>
                        <a:t> por </a:t>
                      </a:r>
                      <a:r>
                        <a:rPr lang="pt-BR" baseline="0" dirty="0" err="1" smtClean="0"/>
                        <a:t>Sv</a:t>
                      </a:r>
                      <a:endParaRPr lang="pt-BR" dirty="0"/>
                    </a:p>
                  </a:txBody>
                  <a:tcPr anchor="ctr"/>
                </a:tc>
              </a:tr>
              <a:tr h="370840">
                <a:tc>
                  <a:txBody>
                    <a:bodyPr/>
                    <a:lstStyle/>
                    <a:p>
                      <a:pPr algn="ctr"/>
                      <a:r>
                        <a:rPr lang="pt-BR" sz="1800" kern="1200" dirty="0" err="1" smtClean="0">
                          <a:solidFill>
                            <a:schemeClr val="dk1"/>
                          </a:solidFill>
                          <a:latin typeface="+mn-lt"/>
                          <a:ea typeface="+mn-ea"/>
                          <a:cs typeface="+mn-cs"/>
                        </a:rPr>
                        <a:t>β</a:t>
                      </a:r>
                      <a:r>
                        <a:rPr lang="pt-BR" sz="1800" kern="1200" baseline="-25000" dirty="0" err="1" smtClean="0">
                          <a:solidFill>
                            <a:schemeClr val="dk1"/>
                          </a:solidFill>
                          <a:latin typeface="+mn-lt"/>
                          <a:ea typeface="+mn-ea"/>
                          <a:cs typeface="+mn-cs"/>
                        </a:rPr>
                        <a:t>F</a:t>
                      </a:r>
                      <a:endParaRPr lang="pt-BR" dirty="0"/>
                    </a:p>
                  </a:txBody>
                  <a:tcPr anchor="ctr"/>
                </a:tc>
                <a:tc>
                  <a:txBody>
                    <a:bodyPr/>
                    <a:lstStyle/>
                    <a:p>
                      <a:pPr algn="ctr"/>
                      <a:r>
                        <a:rPr lang="pt-BR" dirty="0" smtClean="0"/>
                        <a:t>1,2</a:t>
                      </a:r>
                      <a:r>
                        <a:rPr lang="pt-BR" baseline="0" dirty="0" smtClean="0"/>
                        <a:t> por </a:t>
                      </a:r>
                      <a:r>
                        <a:rPr lang="pt-BR" baseline="0" dirty="0" err="1" smtClean="0"/>
                        <a:t>Sv</a:t>
                      </a:r>
                      <a:endParaRPr lang="pt-BR" dirty="0"/>
                    </a:p>
                  </a:txBody>
                  <a:tcPr anchor="ctr"/>
                </a:tc>
              </a:tr>
              <a:tr h="370840">
                <a:tc>
                  <a:txBody>
                    <a:bodyPr/>
                    <a:lstStyle/>
                    <a:p>
                      <a:pPr algn="ctr"/>
                      <a:r>
                        <a:rPr lang="el-GR" dirty="0" smtClean="0"/>
                        <a:t>γ</a:t>
                      </a:r>
                      <a:endParaRPr lang="pt-BR" dirty="0"/>
                    </a:p>
                  </a:txBody>
                  <a:tcPr anchor="ctr"/>
                </a:tc>
                <a:tc>
                  <a:txBody>
                    <a:bodyPr/>
                    <a:lstStyle/>
                    <a:p>
                      <a:pPr algn="ctr"/>
                      <a:r>
                        <a:rPr lang="pt-BR" dirty="0" smtClean="0"/>
                        <a:t>-0,40 por década</a:t>
                      </a:r>
                      <a:endParaRPr lang="pt-BR" dirty="0"/>
                    </a:p>
                  </a:txBody>
                  <a:tcPr anchor="ctr"/>
                </a:tc>
              </a:tr>
              <a:tr h="370840">
                <a:tc>
                  <a:txBody>
                    <a:bodyPr/>
                    <a:lstStyle/>
                    <a:p>
                      <a:pPr algn="ctr"/>
                      <a:r>
                        <a:rPr lang="el-GR" dirty="0" smtClean="0"/>
                        <a:t>δ</a:t>
                      </a:r>
                      <a:endParaRPr lang="pt-BR" dirty="0"/>
                    </a:p>
                  </a:txBody>
                  <a:tcPr anchor="ctr"/>
                </a:tc>
                <a:tc>
                  <a:txBody>
                    <a:bodyPr/>
                    <a:lstStyle/>
                    <a:p>
                      <a:pPr algn="ctr"/>
                      <a:r>
                        <a:rPr lang="pt-BR" dirty="0" smtClean="0"/>
                        <a:t>-0,48</a:t>
                      </a:r>
                      <a:endParaRPr lang="pt-BR" dirty="0"/>
                    </a:p>
                  </a:txBody>
                  <a:tcPr anchor="ctr"/>
                </a:tc>
              </a:tr>
              <a:tr h="370840">
                <a:tc>
                  <a:txBody>
                    <a:bodyPr/>
                    <a:lstStyle/>
                    <a:p>
                      <a:pPr algn="ctr"/>
                      <a:r>
                        <a:rPr lang="el-GR" dirty="0" smtClean="0"/>
                        <a:t>φ</a:t>
                      </a:r>
                      <a:endParaRPr lang="pt-BR" dirty="0"/>
                    </a:p>
                  </a:txBody>
                  <a:tcPr anchor="ctr"/>
                </a:tc>
                <a:tc>
                  <a:txBody>
                    <a:bodyPr/>
                    <a:lstStyle/>
                    <a:p>
                      <a:pPr algn="ctr"/>
                      <a:r>
                        <a:rPr lang="pt-BR" dirty="0" smtClean="0"/>
                        <a:t>0,42</a:t>
                      </a:r>
                      <a:endParaRPr lang="pt-BR" dirty="0"/>
                    </a:p>
                  </a:txBody>
                  <a:tcPr anchor="ctr"/>
                </a:tc>
              </a:tr>
              <a:tr h="370840">
                <a:tc>
                  <a:txBody>
                    <a:bodyPr/>
                    <a:lstStyle/>
                    <a:p>
                      <a:pPr algn="ctr"/>
                      <a:r>
                        <a:rPr lang="el-GR" dirty="0" smtClean="0"/>
                        <a:t>θ</a:t>
                      </a:r>
                      <a:endParaRPr lang="pt-BR" dirty="0"/>
                    </a:p>
                  </a:txBody>
                  <a:tcPr anchor="ctr"/>
                </a:tc>
                <a:tc>
                  <a:txBody>
                    <a:bodyPr/>
                    <a:lstStyle/>
                    <a:p>
                      <a:pPr algn="ctr"/>
                      <a:r>
                        <a:rPr lang="pt-BR" dirty="0" smtClean="0"/>
                        <a:t>0,87 por </a:t>
                      </a:r>
                      <a:r>
                        <a:rPr lang="pt-BR" dirty="0" err="1" smtClean="0"/>
                        <a:t>Sv</a:t>
                      </a:r>
                      <a:endParaRPr lang="pt-BR" dirty="0"/>
                    </a:p>
                  </a:txBody>
                  <a:tcPr anchor="ctr"/>
                </a:tc>
              </a:tr>
              <a:tr h="370840">
                <a:tc>
                  <a:txBody>
                    <a:bodyPr/>
                    <a:lstStyle/>
                    <a:p>
                      <a:pPr algn="ctr"/>
                      <a:r>
                        <a:rPr lang="en-US" dirty="0" smtClean="0"/>
                        <a:t>e</a:t>
                      </a:r>
                      <a:endParaRPr lang="pt-BR" dirty="0"/>
                    </a:p>
                  </a:txBody>
                  <a:tcPr anchor="ctr"/>
                </a:tc>
                <a:tc>
                  <a:txBody>
                    <a:bodyPr/>
                    <a:lstStyle/>
                    <a:p>
                      <a:pPr algn="ctr"/>
                      <a:r>
                        <a:rPr lang="pt-BR" dirty="0" smtClean="0"/>
                        <a:t>Para</a:t>
                      </a:r>
                      <a:r>
                        <a:rPr lang="pt-BR" baseline="0" dirty="0" smtClean="0"/>
                        <a:t> e &lt; 30: e* = (e-30)/10</a:t>
                      </a:r>
                      <a:endParaRPr lang="pt-BR" dirty="0"/>
                    </a:p>
                  </a:txBody>
                  <a:tcPr anchor="ct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Modelo BEIR VII</a:t>
            </a:r>
            <a:endParaRPr lang="pt-BR" sz="4000" dirty="0"/>
          </a:p>
        </p:txBody>
      </p:sp>
      <p:sp>
        <p:nvSpPr>
          <p:cNvPr id="3" name="Espaço Reservado para Conteúdo 2"/>
          <p:cNvSpPr>
            <a:spLocks noGrp="1"/>
          </p:cNvSpPr>
          <p:nvPr>
            <p:ph idx="1"/>
          </p:nvPr>
        </p:nvSpPr>
        <p:spPr/>
        <p:txBody>
          <a:bodyPr>
            <a:normAutofit/>
          </a:bodyPr>
          <a:lstStyle/>
          <a:p>
            <a:r>
              <a:rPr lang="el-GR" sz="2800" dirty="0" smtClean="0"/>
              <a:t>Β</a:t>
            </a:r>
            <a:r>
              <a:rPr lang="en-US" sz="2800" dirty="0" smtClean="0"/>
              <a:t>s </a:t>
            </a:r>
            <a:r>
              <a:rPr lang="en-US" sz="2800" dirty="0" err="1" smtClean="0"/>
              <a:t>representa</a:t>
            </a:r>
            <a:r>
              <a:rPr lang="en-US" sz="2800" dirty="0" smtClean="0"/>
              <a:t> ERR/</a:t>
            </a:r>
            <a:r>
              <a:rPr lang="en-US" sz="2800" dirty="0" err="1" smtClean="0"/>
              <a:t>Sv</a:t>
            </a:r>
            <a:r>
              <a:rPr lang="en-US" sz="2800" dirty="0" smtClean="0"/>
              <a:t>, </a:t>
            </a:r>
            <a:r>
              <a:rPr lang="en-US" sz="2800" dirty="0" err="1" smtClean="0"/>
              <a:t>diferenciado</a:t>
            </a:r>
            <a:r>
              <a:rPr lang="en-US" sz="2800" dirty="0" smtClean="0"/>
              <a:t> </a:t>
            </a:r>
            <a:r>
              <a:rPr lang="en-US" sz="2800" dirty="0" err="1" smtClean="0"/>
              <a:t>em</a:t>
            </a:r>
            <a:r>
              <a:rPr lang="en-US" sz="2800" dirty="0" smtClean="0"/>
              <a:t> </a:t>
            </a:r>
            <a:r>
              <a:rPr lang="pt-BR" sz="2800" dirty="0" err="1" smtClean="0">
                <a:solidFill>
                  <a:schemeClr val="dk1"/>
                </a:solidFill>
              </a:rPr>
              <a:t>β</a:t>
            </a:r>
            <a:r>
              <a:rPr lang="pt-BR" sz="2800" baseline="-25000" dirty="0" err="1" smtClean="0">
                <a:solidFill>
                  <a:schemeClr val="dk1"/>
                </a:solidFill>
              </a:rPr>
              <a:t>M</a:t>
            </a:r>
            <a:r>
              <a:rPr lang="el-GR" sz="2800" dirty="0" smtClean="0"/>
              <a:t> </a:t>
            </a:r>
            <a:r>
              <a:rPr lang="pt-BR" sz="2800" dirty="0" smtClean="0"/>
              <a:t>(homens) e </a:t>
            </a:r>
            <a:r>
              <a:rPr lang="pt-BR" sz="2800" dirty="0" err="1" smtClean="0">
                <a:solidFill>
                  <a:schemeClr val="dk1"/>
                </a:solidFill>
              </a:rPr>
              <a:t>β</a:t>
            </a:r>
            <a:r>
              <a:rPr lang="pt-BR" sz="2800" baseline="-25000" dirty="0" err="1" smtClean="0">
                <a:solidFill>
                  <a:schemeClr val="dk1"/>
                </a:solidFill>
              </a:rPr>
              <a:t>F</a:t>
            </a:r>
            <a:r>
              <a:rPr lang="pt-BR" sz="2800" dirty="0" smtClean="0">
                <a:solidFill>
                  <a:schemeClr val="dk1"/>
                </a:solidFill>
              </a:rPr>
              <a:t> (mulheres).</a:t>
            </a:r>
          </a:p>
          <a:p>
            <a:r>
              <a:rPr lang="el-GR" sz="2800" dirty="0" smtClean="0">
                <a:solidFill>
                  <a:schemeClr val="dk1"/>
                </a:solidFill>
              </a:rPr>
              <a:t>γ </a:t>
            </a:r>
            <a:r>
              <a:rPr lang="pt-BR" sz="2800" dirty="0" smtClean="0">
                <a:solidFill>
                  <a:schemeClr val="dk1"/>
                </a:solidFill>
              </a:rPr>
              <a:t>é expressa por aumento de década na idade desde a exposição;</a:t>
            </a:r>
          </a:p>
          <a:p>
            <a:r>
              <a:rPr lang="el-GR" sz="2800" dirty="0" smtClean="0">
                <a:solidFill>
                  <a:schemeClr val="dk1"/>
                </a:solidFill>
              </a:rPr>
              <a:t>δ </a:t>
            </a:r>
            <a:r>
              <a:rPr lang="pt-BR" sz="2800" dirty="0" smtClean="0">
                <a:solidFill>
                  <a:schemeClr val="dk1"/>
                </a:solidFill>
              </a:rPr>
              <a:t>indica dependência desde a exposição do indivíduo;</a:t>
            </a:r>
          </a:p>
          <a:p>
            <a:r>
              <a:rPr lang="el-GR" sz="2800" dirty="0" smtClean="0">
                <a:solidFill>
                  <a:schemeClr val="dk1"/>
                </a:solidFill>
              </a:rPr>
              <a:t>φ </a:t>
            </a:r>
            <a:r>
              <a:rPr lang="pt-BR" sz="2800" dirty="0" smtClean="0">
                <a:solidFill>
                  <a:schemeClr val="dk1"/>
                </a:solidFill>
              </a:rPr>
              <a:t>é uma constante independente de sexo (s), idade (e) e tempo (t), relacionada ao grau de curvatura da função.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Modelo BEIR VII</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Logo, a equação proposta pelo BEIR VII para leucemia é dependente apenas de </a:t>
            </a:r>
            <a:r>
              <a:rPr lang="pt-BR" sz="2800" i="1" dirty="0" smtClean="0"/>
              <a:t>D</a:t>
            </a:r>
            <a:r>
              <a:rPr lang="pt-BR" sz="2800" dirty="0" smtClean="0"/>
              <a:t>, já que as outras constantes são definidas pelo modelo.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Levantamento radiométrico</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O levantamento utilizado como fonte de dados deste trabalho é feito a partir do uso do equipamento especial para análise e detecção de radiação chamado </a:t>
            </a:r>
            <a:r>
              <a:rPr lang="pt-BR" sz="2800" dirty="0" err="1" smtClean="0"/>
              <a:t>SpiR-ID</a:t>
            </a:r>
            <a:r>
              <a:rPr lang="pt-BR" sz="2800" dirty="0" smtClean="0"/>
              <a:t>:</a:t>
            </a:r>
            <a:endParaRPr lang="pt-BR" sz="2800" dirty="0"/>
          </a:p>
        </p:txBody>
      </p:sp>
      <p:pic>
        <p:nvPicPr>
          <p:cNvPr id="4" name="Imagem 3" descr="SpiR-ID.jpg"/>
          <p:cNvPicPr>
            <a:picLocks noChangeAspect="1"/>
          </p:cNvPicPr>
          <p:nvPr/>
        </p:nvPicPr>
        <p:blipFill>
          <a:blip r:embed="rId2" cstate="print"/>
          <a:stretch>
            <a:fillRect/>
          </a:stretch>
        </p:blipFill>
        <p:spPr>
          <a:xfrm>
            <a:off x="3419872" y="3717032"/>
            <a:ext cx="2324100" cy="197167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Levantamento radiométrico</a:t>
            </a:r>
            <a:endParaRPr lang="pt-BR" sz="4000" dirty="0"/>
          </a:p>
        </p:txBody>
      </p:sp>
      <p:sp>
        <p:nvSpPr>
          <p:cNvPr id="3" name="Espaço Reservado para Conteúdo 2"/>
          <p:cNvSpPr>
            <a:spLocks noGrp="1"/>
          </p:cNvSpPr>
          <p:nvPr>
            <p:ph idx="1"/>
          </p:nvPr>
        </p:nvSpPr>
        <p:spPr/>
        <p:txBody>
          <a:bodyPr>
            <a:normAutofit lnSpcReduction="10000"/>
          </a:bodyPr>
          <a:lstStyle/>
          <a:p>
            <a:r>
              <a:rPr lang="pt-BR" sz="2800" dirty="0" smtClean="0"/>
              <a:t>Os dados coletados pelo </a:t>
            </a:r>
            <a:r>
              <a:rPr lang="pt-BR" sz="2800" dirty="0" err="1" smtClean="0"/>
              <a:t>SpiR-ID</a:t>
            </a:r>
            <a:r>
              <a:rPr lang="pt-BR" sz="2800" dirty="0" smtClean="0"/>
              <a:t> são enviados para um computador que contenha o programa SPIR;</a:t>
            </a:r>
          </a:p>
          <a:p>
            <a:r>
              <a:rPr lang="pt-BR" sz="2800" dirty="0" smtClean="0"/>
              <a:t>Este programa organiza os dados em um arquivo de texto (com valores separados por ponto-e-vírgula) separado em colunas com cada tipo de dado levantado.</a:t>
            </a:r>
          </a:p>
          <a:p>
            <a:r>
              <a:rPr lang="pt-BR" sz="2800" dirty="0" smtClean="0"/>
              <a:t>As colunas utilizadas neste trabalho são:</a:t>
            </a:r>
          </a:p>
          <a:p>
            <a:pPr lvl="1"/>
            <a:r>
              <a:rPr lang="pt-BR" sz="2400" i="1" dirty="0" smtClean="0"/>
              <a:t>Date</a:t>
            </a:r>
          </a:p>
          <a:p>
            <a:pPr lvl="1"/>
            <a:r>
              <a:rPr lang="pt-BR" sz="2400" i="1" dirty="0" err="1" smtClean="0"/>
              <a:t>Gamma</a:t>
            </a:r>
            <a:r>
              <a:rPr lang="pt-BR" sz="2400" i="1" dirty="0" smtClean="0"/>
              <a:t> </a:t>
            </a:r>
            <a:r>
              <a:rPr lang="pt-BR" sz="2400" i="1" dirty="0" err="1" smtClean="0"/>
              <a:t>ground</a:t>
            </a:r>
            <a:r>
              <a:rPr lang="pt-BR" sz="2400" i="1" dirty="0" smtClean="0"/>
              <a:t> dose rate(</a:t>
            </a:r>
            <a:r>
              <a:rPr lang="el-GR" sz="2400" i="1" dirty="0" smtClean="0"/>
              <a:t>μ</a:t>
            </a:r>
            <a:r>
              <a:rPr lang="pt-BR" sz="2400" i="1" dirty="0" err="1" smtClean="0"/>
              <a:t>Sv</a:t>
            </a:r>
            <a:r>
              <a:rPr lang="pt-BR" sz="2400" i="1" dirty="0" smtClean="0"/>
              <a:t>/h)</a:t>
            </a:r>
          </a:p>
          <a:p>
            <a:pPr lvl="1"/>
            <a:r>
              <a:rPr lang="pt-BR" sz="2400" i="1" dirty="0" err="1" smtClean="0"/>
              <a:t>Cosmic</a:t>
            </a:r>
            <a:r>
              <a:rPr lang="pt-BR" sz="2400" i="1" dirty="0" smtClean="0"/>
              <a:t> dose rate(</a:t>
            </a:r>
            <a:r>
              <a:rPr lang="el-GR" sz="2400" i="1" dirty="0" smtClean="0"/>
              <a:t>μ</a:t>
            </a:r>
            <a:r>
              <a:rPr lang="pt-BR" sz="2400" i="1" dirty="0" err="1" smtClean="0"/>
              <a:t>Sv</a:t>
            </a:r>
            <a:r>
              <a:rPr lang="pt-BR" sz="2400" i="1" dirty="0" smtClean="0"/>
              <a:t>/h)</a:t>
            </a:r>
            <a:endParaRPr lang="pt-BR" sz="2400" i="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US" sz="4000" dirty="0" err="1" smtClean="0"/>
              <a:t>Levantamento</a:t>
            </a:r>
            <a:r>
              <a:rPr lang="en-US" sz="4000" dirty="0" smtClean="0"/>
              <a:t> </a:t>
            </a:r>
            <a:r>
              <a:rPr lang="en-US" sz="4000" dirty="0" err="1" smtClean="0"/>
              <a:t>radiom</a:t>
            </a:r>
            <a:r>
              <a:rPr lang="pt-BR" sz="4000" dirty="0" err="1" smtClean="0"/>
              <a:t>étrico</a:t>
            </a:r>
            <a:endParaRPr lang="pt-BR" sz="4000" dirty="0"/>
          </a:p>
        </p:txBody>
      </p:sp>
      <p:pic>
        <p:nvPicPr>
          <p:cNvPr id="4" name="Espaço Reservado para Conteúdo 3" descr="print trecho colunas date gamma cosmic.PNG"/>
          <p:cNvPicPr>
            <a:picLocks noGrp="1" noChangeAspect="1"/>
          </p:cNvPicPr>
          <p:nvPr>
            <p:ph idx="1"/>
          </p:nvPr>
        </p:nvPicPr>
        <p:blipFill>
          <a:blip r:embed="rId2" cstate="print"/>
          <a:stretch>
            <a:fillRect/>
          </a:stretch>
        </p:blipFill>
        <p:spPr>
          <a:xfrm>
            <a:off x="1499884" y="1600200"/>
            <a:ext cx="6144232" cy="4525963"/>
          </a:xfr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Processamento dos dados coletados</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O programa </a:t>
            </a:r>
            <a:r>
              <a:rPr lang="pt-BR" sz="2800" i="1" dirty="0" smtClean="0"/>
              <a:t>Análise de Risco </a:t>
            </a:r>
            <a:r>
              <a:rPr lang="pt-BR" sz="2800" dirty="0" smtClean="0"/>
              <a:t>é responsável por coletar as colunas de interesse do arquivo de levantamento radiométrico;</a:t>
            </a:r>
          </a:p>
          <a:p>
            <a:pPr marL="342900" lvl="1" indent="-342900">
              <a:buFont typeface="Arial" pitchFamily="34" charset="0"/>
              <a:buChar char="•"/>
            </a:pPr>
            <a:r>
              <a:rPr lang="pt-BR" sz="2800" dirty="0" smtClean="0"/>
              <a:t>Calcula </a:t>
            </a:r>
            <a:r>
              <a:rPr lang="pt-BR" sz="2800" i="1" dirty="0" smtClean="0"/>
              <a:t>D</a:t>
            </a:r>
            <a:r>
              <a:rPr lang="pt-BR" sz="2800" dirty="0" smtClean="0"/>
              <a:t> através da soma entre cada valor da coluna </a:t>
            </a:r>
            <a:r>
              <a:rPr lang="pt-BR" i="1" dirty="0" err="1" smtClean="0"/>
              <a:t>Gamma</a:t>
            </a:r>
            <a:r>
              <a:rPr lang="pt-BR" i="1" dirty="0" smtClean="0"/>
              <a:t> </a:t>
            </a:r>
            <a:r>
              <a:rPr lang="pt-BR" i="1" dirty="0" err="1" smtClean="0"/>
              <a:t>ground</a:t>
            </a:r>
            <a:r>
              <a:rPr lang="pt-BR" i="1" dirty="0" smtClean="0"/>
              <a:t> dose rate(</a:t>
            </a:r>
            <a:r>
              <a:rPr lang="el-GR" i="1" dirty="0" smtClean="0"/>
              <a:t>μ</a:t>
            </a:r>
            <a:r>
              <a:rPr lang="pt-BR" i="1" dirty="0" err="1" smtClean="0"/>
              <a:t>Sv</a:t>
            </a:r>
            <a:r>
              <a:rPr lang="pt-BR" i="1" dirty="0" smtClean="0"/>
              <a:t>/h</a:t>
            </a:r>
            <a:r>
              <a:rPr lang="pt-BR" i="1" dirty="0" smtClean="0"/>
              <a:t>)</a:t>
            </a:r>
            <a:r>
              <a:rPr lang="pt-BR" dirty="0" smtClean="0"/>
              <a:t> </a:t>
            </a:r>
            <a:r>
              <a:rPr lang="pt-BR" dirty="0" smtClean="0"/>
              <a:t>com cada valor da coluna </a:t>
            </a:r>
            <a:r>
              <a:rPr lang="pt-BR" i="1" dirty="0" err="1" smtClean="0"/>
              <a:t>Cosmic</a:t>
            </a:r>
            <a:r>
              <a:rPr lang="pt-BR" i="1" dirty="0" smtClean="0"/>
              <a:t> dose rate(</a:t>
            </a:r>
            <a:r>
              <a:rPr lang="el-GR" i="1" dirty="0" smtClean="0"/>
              <a:t>μ</a:t>
            </a:r>
            <a:r>
              <a:rPr lang="pt-BR" i="1" dirty="0" err="1" smtClean="0"/>
              <a:t>Sv</a:t>
            </a:r>
            <a:r>
              <a:rPr lang="pt-BR" i="1" dirty="0" smtClean="0"/>
              <a:t>/h)</a:t>
            </a:r>
            <a:r>
              <a:rPr lang="pt-BR" sz="2400" dirty="0" smtClean="0"/>
              <a:t>;</a:t>
            </a:r>
          </a:p>
          <a:p>
            <a:pPr marL="342900" lvl="1" indent="-342900">
              <a:buFont typeface="Arial" pitchFamily="34" charset="0"/>
              <a:buChar char="•"/>
            </a:pPr>
            <a:r>
              <a:rPr lang="pt-BR" dirty="0" smtClean="0"/>
              <a:t>Os valores da coluna </a:t>
            </a:r>
            <a:r>
              <a:rPr lang="pt-BR" i="1" dirty="0" smtClean="0"/>
              <a:t>Date</a:t>
            </a:r>
            <a:r>
              <a:rPr lang="pt-BR" dirty="0" smtClean="0"/>
              <a:t> são utilizados exclusivamente para criar o identificador de cada arquivo a ser lido pelo programa </a:t>
            </a:r>
            <a:r>
              <a:rPr lang="pt-BR" i="1" dirty="0" smtClean="0"/>
              <a:t>desktop.</a:t>
            </a:r>
            <a:endParaRPr lang="pt-BR" dirty="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Processamento dos dados coletados</a:t>
            </a:r>
            <a:endParaRPr lang="pt-BR" dirty="0"/>
          </a:p>
        </p:txBody>
      </p:sp>
      <p:sp>
        <p:nvSpPr>
          <p:cNvPr id="3" name="Espaço Reservado para Conteúdo 2"/>
          <p:cNvSpPr>
            <a:spLocks noGrp="1"/>
          </p:cNvSpPr>
          <p:nvPr>
            <p:ph idx="1"/>
          </p:nvPr>
        </p:nvSpPr>
        <p:spPr/>
        <p:txBody>
          <a:bodyPr>
            <a:normAutofit/>
          </a:bodyPr>
          <a:lstStyle/>
          <a:p>
            <a:r>
              <a:rPr lang="pt-BR" sz="2800" dirty="0" smtClean="0"/>
              <a:t>O programa </a:t>
            </a:r>
            <a:r>
              <a:rPr lang="pt-BR" sz="2800" i="1" dirty="0" smtClean="0"/>
              <a:t>Análise de Risco</a:t>
            </a:r>
            <a:r>
              <a:rPr lang="pt-BR" sz="2800" dirty="0" smtClean="0"/>
              <a:t> possui funções específicas para calcular o Excesso de Risco Relativo, onde são definidas a partir de:</a:t>
            </a:r>
          </a:p>
          <a:p>
            <a:pPr lvl="1"/>
            <a:r>
              <a:rPr lang="pt-BR" sz="2400" dirty="0" smtClean="0"/>
              <a:t>Sexo dos indivíduos</a:t>
            </a:r>
          </a:p>
          <a:p>
            <a:pPr lvl="1"/>
            <a:r>
              <a:rPr lang="pt-BR" sz="2400" dirty="0" smtClean="0"/>
              <a:t>Tempo após exposição</a:t>
            </a:r>
          </a:p>
          <a:p>
            <a:pPr lvl="2"/>
            <a:r>
              <a:rPr lang="pt-BR" sz="2000" dirty="0" smtClean="0"/>
              <a:t>10 anos</a:t>
            </a:r>
          </a:p>
          <a:p>
            <a:pPr lvl="2"/>
            <a:r>
              <a:rPr lang="pt-BR" sz="2000" dirty="0" smtClean="0"/>
              <a:t>20 anos</a:t>
            </a:r>
          </a:p>
          <a:p>
            <a:pPr lvl="2"/>
            <a:r>
              <a:rPr lang="pt-BR" sz="2000" dirty="0" smtClean="0"/>
              <a:t> </a:t>
            </a:r>
            <a:r>
              <a:rPr lang="pt-BR" sz="2000" dirty="0" smtClean="0"/>
              <a:t>30 anos ou mais.</a:t>
            </a:r>
            <a:endParaRPr lang="pt-BR"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Processamento dos dados coletados</a:t>
            </a:r>
            <a:endParaRPr lang="pt-BR" dirty="0"/>
          </a:p>
        </p:txBody>
      </p:sp>
      <p:sp>
        <p:nvSpPr>
          <p:cNvPr id="3" name="Espaço Reservado para Conteúdo 2"/>
          <p:cNvSpPr>
            <a:spLocks noGrp="1"/>
          </p:cNvSpPr>
          <p:nvPr>
            <p:ph idx="1"/>
          </p:nvPr>
        </p:nvSpPr>
        <p:spPr/>
        <p:txBody>
          <a:bodyPr>
            <a:normAutofit/>
          </a:bodyPr>
          <a:lstStyle/>
          <a:p>
            <a:r>
              <a:rPr lang="pt-BR" sz="2800" dirty="0" smtClean="0"/>
              <a:t>Funções específicas para indivíduos do sexo masculino:</a:t>
            </a:r>
          </a:p>
          <a:p>
            <a:endParaRPr lang="pt-BR" sz="2800" dirty="0"/>
          </a:p>
        </p:txBody>
      </p:sp>
      <p:graphicFrame>
        <p:nvGraphicFramePr>
          <p:cNvPr id="4" name="Tabela 3"/>
          <p:cNvGraphicFramePr>
            <a:graphicFrameLocks noGrp="1"/>
          </p:cNvGraphicFramePr>
          <p:nvPr/>
        </p:nvGraphicFramePr>
        <p:xfrm>
          <a:off x="683568" y="2852936"/>
          <a:ext cx="7776864" cy="1483360"/>
        </p:xfrm>
        <a:graphic>
          <a:graphicData uri="http://schemas.openxmlformats.org/drawingml/2006/table">
            <a:tbl>
              <a:tblPr firstRow="1" bandRow="1">
                <a:tableStyleId>{5C22544A-7EE6-4342-B048-85BDC9FD1C3A}</a:tableStyleId>
              </a:tblPr>
              <a:tblGrid>
                <a:gridCol w="3888432"/>
                <a:gridCol w="3888432"/>
              </a:tblGrid>
              <a:tr h="370840">
                <a:tc>
                  <a:txBody>
                    <a:bodyPr/>
                    <a:lstStyle/>
                    <a:p>
                      <a:pPr algn="ctr"/>
                      <a:r>
                        <a:rPr lang="pt-BR" dirty="0" smtClean="0"/>
                        <a:t>Tempo após exposição</a:t>
                      </a:r>
                      <a:endParaRPr lang="pt-BR" dirty="0"/>
                    </a:p>
                  </a:txBody>
                  <a:tcPr anchor="ctr"/>
                </a:tc>
                <a:tc>
                  <a:txBody>
                    <a:bodyPr/>
                    <a:lstStyle/>
                    <a:p>
                      <a:pPr algn="ctr"/>
                      <a:r>
                        <a:rPr lang="pt-BR" dirty="0" smtClean="0"/>
                        <a:t>Função</a:t>
                      </a:r>
                      <a:endParaRPr lang="pt-BR" dirty="0"/>
                    </a:p>
                  </a:txBody>
                  <a:tcPr anchor="ctr"/>
                </a:tc>
              </a:tr>
              <a:tr h="370840">
                <a:tc>
                  <a:txBody>
                    <a:bodyPr/>
                    <a:lstStyle/>
                    <a:p>
                      <a:pPr algn="ctr"/>
                      <a:r>
                        <a:rPr lang="pt-BR" dirty="0" smtClean="0"/>
                        <a:t>10 anos</a:t>
                      </a:r>
                      <a:endParaRPr lang="pt-BR" dirty="0"/>
                    </a:p>
                  </a:txBody>
                  <a:tcPr anchor="ctr"/>
                </a:tc>
                <a:tc>
                  <a:txBody>
                    <a:bodyPr/>
                    <a:lstStyle/>
                    <a:p>
                      <a:pPr algn="ctr"/>
                      <a:r>
                        <a:rPr lang="pt-BR" dirty="0" smtClean="0"/>
                        <a:t>ERR(D, s, e, t) = 1,1(D+0,87D²)5,59</a:t>
                      </a:r>
                      <a:endParaRPr lang="pt-BR" dirty="0"/>
                    </a:p>
                  </a:txBody>
                  <a:tcPr anchor="ctr"/>
                </a:tc>
              </a:tr>
              <a:tr h="370840">
                <a:tc>
                  <a:txBody>
                    <a:bodyPr/>
                    <a:lstStyle/>
                    <a:p>
                      <a:pPr algn="ctr"/>
                      <a:r>
                        <a:rPr lang="pt-BR" dirty="0" smtClean="0"/>
                        <a:t>20 anos</a:t>
                      </a:r>
                      <a:endParaRPr lang="pt-BR"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dirty="0" smtClean="0"/>
                        <a:t>ERR(D, s, e, t) = 1,1(D+0,87D²)4,17</a:t>
                      </a:r>
                    </a:p>
                  </a:txBody>
                  <a:tcPr anchor="ctr"/>
                </a:tc>
              </a:tr>
              <a:tr h="370840">
                <a:tc>
                  <a:txBody>
                    <a:bodyPr/>
                    <a:lstStyle/>
                    <a:p>
                      <a:pPr algn="ctr"/>
                      <a:r>
                        <a:rPr lang="pt-BR" dirty="0" smtClean="0"/>
                        <a:t>30 anos ou mais</a:t>
                      </a:r>
                      <a:endParaRPr lang="pt-BR"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dirty="0" smtClean="0"/>
                        <a:t>ERR(D, s, e, t) = 1,1(D+0,87D²)1,40</a:t>
                      </a:r>
                    </a:p>
                  </a:txBody>
                  <a:tcPr anchor="ct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Processamento dos dados coletados</a:t>
            </a:r>
            <a:endParaRPr lang="pt-BR" dirty="0"/>
          </a:p>
        </p:txBody>
      </p:sp>
      <p:sp>
        <p:nvSpPr>
          <p:cNvPr id="3" name="Espaço Reservado para Conteúdo 2"/>
          <p:cNvSpPr>
            <a:spLocks noGrp="1"/>
          </p:cNvSpPr>
          <p:nvPr>
            <p:ph idx="1"/>
          </p:nvPr>
        </p:nvSpPr>
        <p:spPr/>
        <p:txBody>
          <a:bodyPr>
            <a:normAutofit/>
          </a:bodyPr>
          <a:lstStyle/>
          <a:p>
            <a:r>
              <a:rPr lang="pt-BR" sz="2800" dirty="0" smtClean="0"/>
              <a:t>Funções específicas para indivíduos do sexo feminino:</a:t>
            </a:r>
          </a:p>
          <a:p>
            <a:endParaRPr lang="pt-BR" sz="2800" dirty="0"/>
          </a:p>
        </p:txBody>
      </p:sp>
      <p:graphicFrame>
        <p:nvGraphicFramePr>
          <p:cNvPr id="4" name="Tabela 3"/>
          <p:cNvGraphicFramePr>
            <a:graphicFrameLocks noGrp="1"/>
          </p:cNvGraphicFramePr>
          <p:nvPr/>
        </p:nvGraphicFramePr>
        <p:xfrm>
          <a:off x="683568" y="2852936"/>
          <a:ext cx="7776864" cy="1483360"/>
        </p:xfrm>
        <a:graphic>
          <a:graphicData uri="http://schemas.openxmlformats.org/drawingml/2006/table">
            <a:tbl>
              <a:tblPr firstRow="1" bandRow="1">
                <a:tableStyleId>{5C22544A-7EE6-4342-B048-85BDC9FD1C3A}</a:tableStyleId>
              </a:tblPr>
              <a:tblGrid>
                <a:gridCol w="3888432"/>
                <a:gridCol w="3888432"/>
              </a:tblGrid>
              <a:tr h="370840">
                <a:tc>
                  <a:txBody>
                    <a:bodyPr/>
                    <a:lstStyle/>
                    <a:p>
                      <a:pPr algn="ctr"/>
                      <a:r>
                        <a:rPr lang="pt-BR" dirty="0" smtClean="0"/>
                        <a:t>Tempo após exposição</a:t>
                      </a:r>
                      <a:endParaRPr lang="pt-BR" dirty="0"/>
                    </a:p>
                  </a:txBody>
                  <a:tcPr anchor="ctr"/>
                </a:tc>
                <a:tc>
                  <a:txBody>
                    <a:bodyPr/>
                    <a:lstStyle/>
                    <a:p>
                      <a:pPr algn="ctr"/>
                      <a:r>
                        <a:rPr lang="pt-BR" dirty="0" smtClean="0"/>
                        <a:t>Função</a:t>
                      </a:r>
                      <a:endParaRPr lang="pt-BR" dirty="0"/>
                    </a:p>
                  </a:txBody>
                  <a:tcPr anchor="ctr"/>
                </a:tc>
              </a:tr>
              <a:tr h="370840">
                <a:tc>
                  <a:txBody>
                    <a:bodyPr/>
                    <a:lstStyle/>
                    <a:p>
                      <a:pPr algn="ctr"/>
                      <a:r>
                        <a:rPr lang="pt-BR" dirty="0" smtClean="0"/>
                        <a:t>10 anos</a:t>
                      </a:r>
                      <a:endParaRPr lang="pt-BR" dirty="0"/>
                    </a:p>
                  </a:txBody>
                  <a:tcPr anchor="ctr"/>
                </a:tc>
                <a:tc>
                  <a:txBody>
                    <a:bodyPr/>
                    <a:lstStyle/>
                    <a:p>
                      <a:pPr algn="ctr"/>
                      <a:r>
                        <a:rPr lang="pt-BR" dirty="0" smtClean="0"/>
                        <a:t>ERR(D, s, e, t) = 1,2(D+0,87D²)5,59</a:t>
                      </a:r>
                      <a:endParaRPr lang="pt-BR" dirty="0"/>
                    </a:p>
                  </a:txBody>
                  <a:tcPr anchor="ctr"/>
                </a:tc>
              </a:tr>
              <a:tr h="370840">
                <a:tc>
                  <a:txBody>
                    <a:bodyPr/>
                    <a:lstStyle/>
                    <a:p>
                      <a:pPr algn="ctr"/>
                      <a:r>
                        <a:rPr lang="pt-BR" dirty="0" smtClean="0"/>
                        <a:t>20 anos</a:t>
                      </a:r>
                      <a:endParaRPr lang="pt-BR"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dirty="0" smtClean="0"/>
                        <a:t>ERR(D, s, e, t) = 1,2(D+0,87D²)4,17</a:t>
                      </a:r>
                    </a:p>
                  </a:txBody>
                  <a:tcPr anchor="ctr"/>
                </a:tc>
              </a:tr>
              <a:tr h="370840">
                <a:tc>
                  <a:txBody>
                    <a:bodyPr/>
                    <a:lstStyle/>
                    <a:p>
                      <a:pPr algn="ctr"/>
                      <a:r>
                        <a:rPr lang="pt-BR" dirty="0" smtClean="0"/>
                        <a:t>30 anos ou mais</a:t>
                      </a:r>
                      <a:endParaRPr lang="pt-BR"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dirty="0" smtClean="0"/>
                        <a:t>ERR(D, s, e, t) = 1,2(D+0,87D²)1,40</a:t>
                      </a:r>
                    </a:p>
                  </a:txBody>
                  <a:tcPr anchor="ct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Visualização das estimativas</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Após os cálculos serem feitos pelo programa, as estimativas podem ser visualizadas através de um gráfico em barra.</a:t>
            </a:r>
          </a:p>
          <a:p>
            <a:r>
              <a:rPr lang="pt-BR" sz="2800" dirty="0" smtClean="0"/>
              <a:t>O programa ainda permite o envio das estimativas calculadas para uma base de dados </a:t>
            </a:r>
            <a:r>
              <a:rPr lang="pt-BR" sz="2800" i="1" dirty="0" smtClean="0"/>
              <a:t>online</a:t>
            </a:r>
            <a:r>
              <a:rPr lang="pt-BR" sz="2800" dirty="0" smtClean="0"/>
              <a:t> </a:t>
            </a:r>
            <a:r>
              <a:rPr lang="pt-BR" sz="2800" dirty="0" err="1" smtClean="0"/>
              <a:t>NoSQL</a:t>
            </a:r>
            <a:r>
              <a:rPr lang="pt-BR" sz="2800" dirty="0" smtClean="0"/>
              <a:t> do </a:t>
            </a:r>
            <a:r>
              <a:rPr lang="pt-BR" sz="2800" dirty="0" err="1" smtClean="0"/>
              <a:t>Firebase</a:t>
            </a:r>
            <a:r>
              <a:rPr lang="pt-BR" sz="2800" dirty="0" smtClean="0"/>
              <a:t>®.</a:t>
            </a:r>
          </a:p>
          <a:p>
            <a:pPr lvl="1"/>
            <a:r>
              <a:rPr lang="pt-BR" sz="2400" dirty="0" smtClean="0"/>
              <a:t>O </a:t>
            </a:r>
            <a:r>
              <a:rPr lang="pt-BR" sz="2400" dirty="0" err="1" smtClean="0"/>
              <a:t>Firebase</a:t>
            </a:r>
            <a:r>
              <a:rPr lang="pt-BR" sz="2400" dirty="0" smtClean="0"/>
              <a:t>® será utilizado para sincronizar as estimativas de ERR/</a:t>
            </a:r>
            <a:r>
              <a:rPr lang="pt-BR" sz="2400" dirty="0" err="1" smtClean="0"/>
              <a:t>Sv</a:t>
            </a:r>
            <a:r>
              <a:rPr lang="pt-BR" sz="2400" dirty="0" smtClean="0"/>
              <a:t> com uma aplicação </a:t>
            </a:r>
            <a:r>
              <a:rPr lang="pt-BR" sz="2400" i="1" dirty="0" err="1" smtClean="0"/>
              <a:t>mobile</a:t>
            </a:r>
            <a:r>
              <a:rPr lang="pt-BR" sz="2400" i="1" dirty="0" smtClean="0"/>
              <a:t> ERR</a:t>
            </a:r>
            <a:r>
              <a:rPr lang="pt-BR" sz="2400" dirty="0" smtClean="0"/>
              <a:t>.</a:t>
            </a:r>
          </a:p>
          <a:p>
            <a:pPr lvl="2"/>
            <a:r>
              <a:rPr lang="pt-BR" sz="2000" dirty="0" smtClean="0"/>
              <a:t>Que por sua vez, também gera a visualização das estimativas de ERR/</a:t>
            </a:r>
            <a:r>
              <a:rPr lang="pt-BR" sz="2000" dirty="0" err="1" smtClean="0"/>
              <a:t>Sv</a:t>
            </a:r>
            <a:r>
              <a:rPr lang="pt-BR" sz="2000" dirty="0" smtClean="0"/>
              <a:t> em tempo real na tela do </a:t>
            </a:r>
            <a:r>
              <a:rPr lang="pt-BR" sz="2000" i="1" dirty="0" err="1" smtClean="0"/>
              <a:t>smartphone</a:t>
            </a:r>
            <a:r>
              <a:rPr lang="pt-BR" sz="2000" i="1" dirty="0" smtClean="0"/>
              <a:t> ou </a:t>
            </a:r>
            <a:r>
              <a:rPr lang="pt-BR" sz="2000" i="1" dirty="0" err="1" smtClean="0"/>
              <a:t>tablet</a:t>
            </a:r>
            <a:r>
              <a:rPr lang="pt-BR" sz="2000" i="1" dirty="0" smtClean="0"/>
              <a:t>.</a:t>
            </a:r>
            <a:endParaRPr lang="pt-BR" sz="2000" dirty="0" smtClean="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Visualização das estimativas</a:t>
            </a:r>
            <a:endParaRPr lang="pt-BR" sz="4000" dirty="0"/>
          </a:p>
        </p:txBody>
      </p:sp>
      <p:pic>
        <p:nvPicPr>
          <p:cNvPr id="4" name="Espaço Reservado para Conteúdo 3" descr="print trecho desktop estimativas.PNG"/>
          <p:cNvPicPr>
            <a:picLocks noGrp="1" noChangeAspect="1"/>
          </p:cNvPicPr>
          <p:nvPr>
            <p:ph idx="1"/>
          </p:nvPr>
        </p:nvPicPr>
        <p:blipFill>
          <a:blip r:embed="rId2" cstate="print"/>
          <a:stretch>
            <a:fillRect/>
          </a:stretch>
        </p:blipFill>
        <p:spPr>
          <a:xfrm>
            <a:off x="2156536" y="1600200"/>
            <a:ext cx="4830927" cy="4525963"/>
          </a:xfr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Visualização das estimativas</a:t>
            </a:r>
            <a:endParaRPr lang="pt-BR" sz="4000" dirty="0"/>
          </a:p>
        </p:txBody>
      </p:sp>
      <p:pic>
        <p:nvPicPr>
          <p:cNvPr id="4" name="Espaço Reservado para Conteúdo 3" descr="device-2018-12-09-020647.png"/>
          <p:cNvPicPr>
            <a:picLocks noGrp="1" noChangeAspect="1"/>
          </p:cNvPicPr>
          <p:nvPr>
            <p:ph idx="1"/>
          </p:nvPr>
        </p:nvPicPr>
        <p:blipFill>
          <a:blip r:embed="rId2" cstate="print"/>
          <a:stretch>
            <a:fillRect/>
          </a:stretch>
        </p:blipFill>
        <p:spPr>
          <a:xfrm>
            <a:off x="3299073" y="1600200"/>
            <a:ext cx="2545854" cy="4525963"/>
          </a:xfr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Conclusão</a:t>
            </a:r>
            <a:endParaRPr lang="pt-BR" sz="4000" dirty="0"/>
          </a:p>
        </p:txBody>
      </p:sp>
      <p:sp>
        <p:nvSpPr>
          <p:cNvPr id="3" name="Espaço Reservado para Conteúdo 2"/>
          <p:cNvSpPr>
            <a:spLocks noGrp="1"/>
          </p:cNvSpPr>
          <p:nvPr>
            <p:ph idx="1"/>
          </p:nvPr>
        </p:nvSpPr>
        <p:spPr/>
        <p:txBody>
          <a:bodyPr>
            <a:normAutofit fontScale="92500" lnSpcReduction="10000"/>
          </a:bodyPr>
          <a:lstStyle/>
          <a:p>
            <a:r>
              <a:rPr lang="pt-BR" sz="2800" dirty="0" smtClean="0"/>
              <a:t>O sistema desenvolvido neste trabalho pode ser usado na população que foi exposta a baixas doses de radiação (abaixo de 100 </a:t>
            </a:r>
            <a:r>
              <a:rPr lang="pt-BR" sz="2800" dirty="0" err="1" smtClean="0"/>
              <a:t>mSv</a:t>
            </a:r>
            <a:r>
              <a:rPr lang="pt-BR" sz="2800" dirty="0" smtClean="0"/>
              <a:t>);</a:t>
            </a:r>
          </a:p>
          <a:p>
            <a:r>
              <a:rPr lang="pt-BR" sz="2800" dirty="0" smtClean="0"/>
              <a:t>P</a:t>
            </a:r>
            <a:r>
              <a:rPr lang="pt-BR" sz="2800" dirty="0" smtClean="0"/>
              <a:t>ode ser utilizado como ferramenta auxiliar no processo decisório por órgãos competentes perante eventos radiológicos (atentados ou não);</a:t>
            </a:r>
          </a:p>
          <a:p>
            <a:r>
              <a:rPr lang="pt-BR" sz="2800" dirty="0" smtClean="0"/>
              <a:t>Também pode contribuir para que envolvidos nos eventos radiológicos que tenham interesse direto na resolução do problema e na busca das pessoas afetadas, possam decidir quais vítimas terão prioridade no atendimento médico após exposição.</a:t>
            </a:r>
            <a:endParaRPr lang="pt-BR"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Trabalhos Futuros</a:t>
            </a:r>
            <a:endParaRPr lang="pt-BR" sz="4000" dirty="0"/>
          </a:p>
        </p:txBody>
      </p:sp>
      <p:sp>
        <p:nvSpPr>
          <p:cNvPr id="3" name="Espaço Reservado para Conteúdo 2"/>
          <p:cNvSpPr>
            <a:spLocks noGrp="1"/>
          </p:cNvSpPr>
          <p:nvPr>
            <p:ph idx="1"/>
          </p:nvPr>
        </p:nvSpPr>
        <p:spPr/>
        <p:txBody>
          <a:bodyPr>
            <a:normAutofit lnSpcReduction="10000"/>
          </a:bodyPr>
          <a:lstStyle/>
          <a:p>
            <a:r>
              <a:rPr lang="pt-BR" sz="2800" dirty="0" smtClean="0"/>
              <a:t>Implementar um banco de dados próprio nas aplicações </a:t>
            </a:r>
            <a:r>
              <a:rPr lang="pt-BR" sz="2800" i="1" dirty="0" smtClean="0"/>
              <a:t>desktop Análise de Risco</a:t>
            </a:r>
            <a:r>
              <a:rPr lang="pt-BR" sz="2800" dirty="0" smtClean="0"/>
              <a:t> e </a:t>
            </a:r>
            <a:r>
              <a:rPr lang="pt-BR" sz="2800" i="1" dirty="0" err="1" smtClean="0"/>
              <a:t>mobile</a:t>
            </a:r>
            <a:r>
              <a:rPr lang="pt-BR" sz="2800" i="1" dirty="0" smtClean="0"/>
              <a:t> ERR;</a:t>
            </a:r>
          </a:p>
          <a:p>
            <a:r>
              <a:rPr lang="pt-BR" sz="2800" dirty="0" smtClean="0"/>
              <a:t>Implementar uma interface </a:t>
            </a:r>
            <a:r>
              <a:rPr lang="pt-BR" sz="2800" i="1" dirty="0" smtClean="0"/>
              <a:t>web</a:t>
            </a:r>
            <a:r>
              <a:rPr lang="pt-BR" sz="2800" dirty="0" smtClean="0"/>
              <a:t> mais robusta na aplicação </a:t>
            </a:r>
            <a:r>
              <a:rPr lang="pt-BR" sz="2800" i="1" dirty="0" smtClean="0"/>
              <a:t>Análise de Risco</a:t>
            </a:r>
            <a:r>
              <a:rPr lang="pt-BR" sz="2800" dirty="0" smtClean="0"/>
              <a:t>;</a:t>
            </a:r>
          </a:p>
          <a:p>
            <a:r>
              <a:rPr lang="pt-BR" sz="2800" dirty="0" smtClean="0"/>
              <a:t>Implementar opções de visualizações com outros tipos de gráficos;</a:t>
            </a:r>
          </a:p>
          <a:p>
            <a:r>
              <a:rPr lang="pt-BR" sz="2800" dirty="0" smtClean="0"/>
              <a:t>Utilizar outros dados contidos em outras colunas dos arquivos de levantamento radiométrico aéreo;</a:t>
            </a:r>
          </a:p>
          <a:p>
            <a:r>
              <a:rPr lang="pt-BR" sz="2800" dirty="0" smtClean="0"/>
              <a:t>Implementar sistema de notificações na aplicação </a:t>
            </a:r>
            <a:r>
              <a:rPr lang="pt-BR" sz="2800" i="1" dirty="0" smtClean="0"/>
              <a:t>ERR;</a:t>
            </a:r>
            <a:endParaRPr lang="pt-BR" sz="2800" dirty="0" smtClean="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Trabalhos Futuros</a:t>
            </a:r>
            <a:endParaRPr lang="pt-BR" sz="4000" dirty="0"/>
          </a:p>
        </p:txBody>
      </p:sp>
      <p:sp>
        <p:nvSpPr>
          <p:cNvPr id="3" name="Espaço Reservado para Conteúdo 2"/>
          <p:cNvSpPr>
            <a:spLocks noGrp="1"/>
          </p:cNvSpPr>
          <p:nvPr>
            <p:ph idx="1"/>
          </p:nvPr>
        </p:nvSpPr>
        <p:spPr/>
        <p:txBody>
          <a:bodyPr>
            <a:normAutofit/>
          </a:bodyPr>
          <a:lstStyle/>
          <a:p>
            <a:r>
              <a:rPr lang="pt-BR" sz="2800" dirty="0" smtClean="0"/>
              <a:t>Criar ver</a:t>
            </a:r>
            <a:r>
              <a:rPr lang="pt-BR" sz="2800" dirty="0" smtClean="0"/>
              <a:t>ão híbrida do aplicativo </a:t>
            </a:r>
            <a:r>
              <a:rPr lang="pt-BR" sz="2800" i="1" dirty="0" smtClean="0"/>
              <a:t>ERR</a:t>
            </a:r>
            <a:r>
              <a:rPr lang="pt-BR" sz="2800" dirty="0" smtClean="0"/>
              <a:t>;</a:t>
            </a:r>
          </a:p>
          <a:p>
            <a:r>
              <a:rPr lang="pt-BR" sz="2800" dirty="0" smtClean="0"/>
              <a:t>Implementar sistema de autenticação na conexão com o </a:t>
            </a:r>
            <a:r>
              <a:rPr lang="pt-BR" sz="2800" dirty="0" err="1" smtClean="0"/>
              <a:t>Firebase</a:t>
            </a:r>
            <a:r>
              <a:rPr lang="pt-BR" sz="2800" dirty="0" smtClean="0"/>
              <a:t>®;</a:t>
            </a:r>
          </a:p>
          <a:p>
            <a:r>
              <a:rPr lang="pt-BR" sz="2800" dirty="0" smtClean="0"/>
              <a:t>Permitir utilização de outros modelos (como o BEIR VII) de cálculo de risco para outros tipos de cânceres.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000" dirty="0" smtClean="0"/>
              <a:t>Referências</a:t>
            </a:r>
            <a:endParaRPr lang="pt-BR" sz="4000" dirty="0"/>
          </a:p>
        </p:txBody>
      </p:sp>
      <p:sp>
        <p:nvSpPr>
          <p:cNvPr id="3" name="Espaço Reservado para Conteúdo 2"/>
          <p:cNvSpPr>
            <a:spLocks noGrp="1"/>
          </p:cNvSpPr>
          <p:nvPr>
            <p:ph idx="1"/>
          </p:nvPr>
        </p:nvSpPr>
        <p:spPr/>
        <p:txBody>
          <a:bodyPr>
            <a:normAutofit fontScale="85000" lnSpcReduction="20000"/>
          </a:bodyPr>
          <a:lstStyle/>
          <a:p>
            <a:r>
              <a:rPr lang="en-US" sz="2800" dirty="0" smtClean="0"/>
              <a:t>BEIR VII, Phase II. </a:t>
            </a:r>
            <a:r>
              <a:rPr lang="en-US" sz="2800" b="1" dirty="0" smtClean="0"/>
              <a:t>Health Risks From Exposure to Low Levels of Ionizing Radiation</a:t>
            </a:r>
            <a:r>
              <a:rPr lang="en-US" sz="2800" dirty="0" smtClean="0"/>
              <a:t>. </a:t>
            </a:r>
            <a:r>
              <a:rPr lang="pt-BR" sz="2800" dirty="0" smtClean="0"/>
              <a:t>ISBN 978-0-309-09156-5 | DOI 10.17226/11340, </a:t>
            </a:r>
            <a:r>
              <a:rPr lang="pt-BR" sz="2800" dirty="0" smtClean="0"/>
              <a:t>2006.</a:t>
            </a:r>
          </a:p>
          <a:p>
            <a:r>
              <a:rPr lang="pt-BR" sz="2800" b="1" dirty="0" smtClean="0"/>
              <a:t>Marie Curie </a:t>
            </a:r>
            <a:r>
              <a:rPr lang="pt-BR" sz="2800" b="1" dirty="0" err="1" smtClean="0"/>
              <a:t>Biographical</a:t>
            </a:r>
            <a:r>
              <a:rPr lang="pt-BR" sz="2800" dirty="0" smtClean="0"/>
              <a:t>. https://www.nobelprize.org/prizes/physics/1903/marie-curie/biographical</a:t>
            </a:r>
            <a:r>
              <a:rPr lang="pt-BR" sz="2800" dirty="0" smtClean="0"/>
              <a:t>/.</a:t>
            </a:r>
          </a:p>
          <a:p>
            <a:r>
              <a:rPr lang="pt-BR" sz="2800" dirty="0" smtClean="0"/>
              <a:t>ROTHER, F. </a:t>
            </a:r>
            <a:r>
              <a:rPr lang="pt-BR" sz="2800" b="1" dirty="0" smtClean="0"/>
              <a:t>Metodologia de integração de dados e geração de interface dinâmica em tempo real para ações de respostas a eventos radiológicos utilizando veículo aéreo não tripulado</a:t>
            </a:r>
            <a:r>
              <a:rPr lang="pt-BR" sz="2800" dirty="0" smtClean="0"/>
              <a:t>. Tese (Doutorado em Radioproteção e Dosimetria). Rio de Janeiro: IRD/CNEN, </a:t>
            </a:r>
            <a:r>
              <a:rPr lang="pt-BR" sz="2800" dirty="0" smtClean="0"/>
              <a:t>2018.</a:t>
            </a:r>
          </a:p>
          <a:p>
            <a:r>
              <a:rPr lang="pt-BR" sz="2800" dirty="0" smtClean="0"/>
              <a:t>TAUHATA, </a:t>
            </a:r>
            <a:r>
              <a:rPr lang="pt-BR" sz="2800" i="1" dirty="0" err="1" smtClean="0"/>
              <a:t>et</a:t>
            </a:r>
            <a:r>
              <a:rPr lang="pt-BR" sz="2800" i="1" dirty="0" smtClean="0"/>
              <a:t> al</a:t>
            </a:r>
            <a:r>
              <a:rPr lang="pt-BR" sz="2800" dirty="0" smtClean="0"/>
              <a:t>. </a:t>
            </a:r>
            <a:r>
              <a:rPr lang="pt-BR" sz="2800" b="1" dirty="0" smtClean="0"/>
              <a:t>Radioproteção e Dosimetria: Fundamentos</a:t>
            </a:r>
            <a:r>
              <a:rPr lang="pt-BR" sz="2800" dirty="0" smtClean="0"/>
              <a:t>. Rio de Janeiro: IRD, CNEN, 10ª Revisão, </a:t>
            </a:r>
            <a:r>
              <a:rPr lang="pt-BR" sz="2800" dirty="0" smtClean="0"/>
              <a:t>2014.</a:t>
            </a:r>
            <a:endParaRPr lang="pt-BR" sz="2800" dirty="0"/>
          </a:p>
        </p:txBody>
      </p:sp>
    </p:spTree>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1417</TotalTime>
  <Words>2439</Words>
  <Application>Microsoft Office PowerPoint</Application>
  <PresentationFormat>Apresentação na tela (4:3)</PresentationFormat>
  <Paragraphs>189</Paragraphs>
  <Slides>46</Slides>
  <Notes>0</Notes>
  <HiddenSlides>0</HiddenSlides>
  <MMClips>0</MMClips>
  <ScaleCrop>false</ScaleCrop>
  <HeadingPairs>
    <vt:vector size="4" baseType="variant">
      <vt:variant>
        <vt:lpstr>Tema</vt:lpstr>
      </vt:variant>
      <vt:variant>
        <vt:i4>1</vt:i4>
      </vt:variant>
      <vt:variant>
        <vt:lpstr>Títulos de slides</vt:lpstr>
      </vt:variant>
      <vt:variant>
        <vt:i4>46</vt:i4>
      </vt:variant>
    </vt:vector>
  </HeadingPairs>
  <TitlesOfParts>
    <vt:vector size="47" baseType="lpstr">
      <vt:lpstr>Tema do Office</vt:lpstr>
      <vt:lpstr>Desenvolvimento de aplicativo para Análise de Risco Radiológico</vt:lpstr>
      <vt:lpstr>Introdução</vt:lpstr>
      <vt:lpstr>Introdução</vt:lpstr>
      <vt:lpstr>Introdução</vt:lpstr>
      <vt:lpstr>Fluxo do sistema</vt:lpstr>
      <vt:lpstr>Radiação ionizante</vt:lpstr>
      <vt:lpstr>Radiação ionizante</vt:lpstr>
      <vt:lpstr>Radiação ionizante</vt:lpstr>
      <vt:lpstr>Radiação nuclear</vt:lpstr>
      <vt:lpstr>Fontes naturais e artificiais de radiação</vt:lpstr>
      <vt:lpstr>Efeitos biológicos</vt:lpstr>
      <vt:lpstr>Marie Curie</vt:lpstr>
      <vt:lpstr>Exposição à radiação</vt:lpstr>
      <vt:lpstr>Exposição à radiação</vt:lpstr>
      <vt:lpstr>Exposição à radiação</vt:lpstr>
      <vt:lpstr>Exposição à radiação</vt:lpstr>
      <vt:lpstr>Exposição à radiação</vt:lpstr>
      <vt:lpstr>Exposição à radiação</vt:lpstr>
      <vt:lpstr>Exposição à radiação</vt:lpstr>
      <vt:lpstr>Efeitos estocásticos</vt:lpstr>
      <vt:lpstr>Danos celulares</vt:lpstr>
      <vt:lpstr>Danos celulares</vt:lpstr>
      <vt:lpstr>Danos celulares</vt:lpstr>
      <vt:lpstr>Dose absorvida (D)</vt:lpstr>
      <vt:lpstr>Dose Equivalente (H)</vt:lpstr>
      <vt:lpstr>Fatores de influência</vt:lpstr>
      <vt:lpstr>Leucemia</vt:lpstr>
      <vt:lpstr>Modelo BEIR VII</vt:lpstr>
      <vt:lpstr>Modelo BEIR VII</vt:lpstr>
      <vt:lpstr>Modelo BEIR VII</vt:lpstr>
      <vt:lpstr>Modelo BEIR VII</vt:lpstr>
      <vt:lpstr>Modelo BEIR VII</vt:lpstr>
      <vt:lpstr>Levantamento radiométrico</vt:lpstr>
      <vt:lpstr>Levantamento radiométrico</vt:lpstr>
      <vt:lpstr>Levantamento radiométrico</vt:lpstr>
      <vt:lpstr>Processamento dos dados coletados</vt:lpstr>
      <vt:lpstr>Processamento dos dados coletados</vt:lpstr>
      <vt:lpstr>Processamento dos dados coletados</vt:lpstr>
      <vt:lpstr>Processamento dos dados coletados</vt:lpstr>
      <vt:lpstr>Visualização das estimativas</vt:lpstr>
      <vt:lpstr>Visualização das estimativas</vt:lpstr>
      <vt:lpstr>Visualização das estimativas</vt:lpstr>
      <vt:lpstr>Conclusão</vt:lpstr>
      <vt:lpstr>Trabalhos Futuros</vt:lpstr>
      <vt:lpstr>Trabalhos Futuros</vt:lpstr>
      <vt:lpstr>Referências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Desenvolvimento de aplicativo para Análise de Risco Radiológico</dc:title>
  <dc:creator>Diogo F. Nascimento</dc:creator>
  <cp:lastModifiedBy>Diogo Ferreira</cp:lastModifiedBy>
  <cp:revision>198</cp:revision>
  <dcterms:created xsi:type="dcterms:W3CDTF">2018-12-12T23:40:47Z</dcterms:created>
  <dcterms:modified xsi:type="dcterms:W3CDTF">2018-12-15T00:05:03Z</dcterms:modified>
</cp:coreProperties>
</file>